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0" y="731520"/>
            <a:ext cx="2560320" cy="1097280"/>
          </a:xfrm>
          <a:prstGeom prst="ellipse">
            <a:avLst/>
          </a:prstGeom>
          <a:solidFill>
            <a:srgbClr val="14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4320" y="5303520"/>
            <a:ext cx="2926080" cy="914400"/>
          </a:xfrm>
          <a:prstGeom prst="ellipse">
            <a:avLst/>
          </a:prstGeom>
          <a:solidFill>
            <a:srgbClr val="14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0" y="5029200"/>
            <a:ext cx="3200400" cy="1188720"/>
          </a:xfrm>
          <a:prstGeom prst="ellipse">
            <a:avLst/>
          </a:prstGeom>
          <a:solidFill>
            <a:srgbClr val="14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DA5A0"/>
                </a:solidFill>
                <a:latin typeface="Calibri"/>
              </a:rPr>
              <a:t>CLOUD COMPUTING – 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Networking in the Cloud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08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3D9BE0"/>
                </a:solidFill>
                <a:latin typeface="Calibri"/>
              </a:rPr>
              <a:t>Unit II  ·  Base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31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Google App Engine  ·  Compute Engine  ·  Load Balancing  ·  GKE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Cloud Functions  ·  DR  ·  IaC  ·  CI/CD  + Real-world case studies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03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A6B7C"/>
                </a:solidFill>
                <a:latin typeface="Calibri"/>
              </a:rPr>
              <a:t>FIT &amp; CS  ·  Parul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Learning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D9BE0"/>
                </a:solidFill>
                <a:latin typeface="Calibri"/>
              </a:rPr>
              <a:t>Eleven topics that build a production-ready cloud networking mindset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  ·  Networking in the Cloud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417320"/>
            <a:ext cx="356616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3566160" cy="109728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737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A6FB5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1488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App Engine &amp; Service Models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417320"/>
            <a:ext cx="356616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417320"/>
            <a:ext cx="3566160" cy="109728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1737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DA5A0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1488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Compute Engine &amp; Scalable Web Apps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417320"/>
            <a:ext cx="356616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417320"/>
            <a:ext cx="3566160" cy="109728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17373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E86A4C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1488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MIG, Load Balancers, CDN &amp; Autohealing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971800"/>
            <a:ext cx="356616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2971800"/>
            <a:ext cx="3566160" cy="109728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291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A6FB5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7033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App Engine Flexible &amp; PaaS Deep Dive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2971800"/>
            <a:ext cx="356616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7680" y="2971800"/>
            <a:ext cx="3566160" cy="109728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80" y="3291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DA5A0"/>
                </a:solidFill>
                <a:latin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37033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Event-Driven Cloud Functions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2971800"/>
            <a:ext cx="356616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8160" y="2971800"/>
            <a:ext cx="3566160" cy="109728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66760" y="32918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E86A4C"/>
                </a:solidFill>
                <a:latin typeface="Calibri"/>
              </a:rPr>
              <a:t>06–07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37033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GKE Overview &amp; Container Deployments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526280"/>
            <a:ext cx="356616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4526280"/>
            <a:ext cx="3566160" cy="109728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4846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A6FB5"/>
                </a:solidFill>
                <a:latin typeface="Calibri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52578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Cloud Principles &amp; Well-Architected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97680" y="4526280"/>
            <a:ext cx="356616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97680" y="4526280"/>
            <a:ext cx="3566160" cy="109728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26280" y="4846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0DA5A0"/>
                </a:solidFill>
                <a:latin typeface="Calibri"/>
              </a:rPr>
              <a:t>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26280" y="52578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Disaster Recovery in the Cloud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138160" y="4526280"/>
            <a:ext cx="3566160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38160" y="4526280"/>
            <a:ext cx="3566160" cy="109728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66760" y="4846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E86A4C"/>
                </a:solidFill>
                <a:latin typeface="Calibri"/>
              </a:rPr>
              <a:t>10–11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66760" y="52578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Infrastructure as Code &amp; CI/CD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Why “Networking in the Cloud”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D9BE0"/>
                </a:solidFill>
                <a:latin typeface="Calibri"/>
              </a:rPr>
              <a:t>Unit II connects compute, traffic, resilience, and delivery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  ·  Networking in the Cloud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25880"/>
            <a:ext cx="1124712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109728" cy="100584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508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A1B2E"/>
                </a:solidFill>
                <a:latin typeface="Calibri"/>
              </a:rPr>
              <a:t>Compute choices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828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PaaS (App Engine), IaaS (Compute Engine), FaaS (Functions), containers (GKE) — pick the right abstraction.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468880"/>
            <a:ext cx="1124712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468880"/>
            <a:ext cx="109728" cy="100584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651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A1B2E"/>
                </a:solidFill>
                <a:latin typeface="Calibri"/>
              </a:rPr>
              <a:t>Traffic fabric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971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Load balancers, named ports, health checks, and CDN move users to healthy backends worldwide.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611880"/>
            <a:ext cx="1124712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611880"/>
            <a:ext cx="109728" cy="100584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794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A1B2E"/>
                </a:solidFill>
                <a:latin typeface="Calibri"/>
              </a:rPr>
              <a:t>Resilience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114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MIG autohealing, rolling updates, multi-zone GKE, and DR strategies keep apps alive under failure.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754880"/>
            <a:ext cx="1124712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754880"/>
            <a:ext cx="109728" cy="10058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37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A1B2E"/>
                </a:solidFill>
                <a:latin typeface="Calibri"/>
              </a:rPr>
              <a:t>Delivery speed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257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IaC + CI/CD turn Fancy Store / GKE labs into repeatable production pipelines.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Topic 1 · Google App Engine (GAE)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D9BE0"/>
                </a:solidFill>
                <a:latin typeface="Calibri"/>
              </a:rPr>
              <a:t>Fully managed PaaS — write code, Google runs the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  ·  Networking in the Cloud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25880"/>
            <a:ext cx="548640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91440" cy="329184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A1B2E"/>
                </a:solidFill>
                <a:latin typeface="Calibri"/>
              </a:rPr>
              <a:t>What is GAE?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828800"/>
            <a:ext cx="51206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Platform-as-a-Service on Google Cloud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Google handles servers, OS, scaling, LB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You deploy app code — not VMs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Sandboxed runtimes + auto-scaling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Built-in APIs: Memcache, URL Fetch,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  Cloud Storage, Blobstore (legacy)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Free tier for CPU, storage, API calls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25880"/>
            <a:ext cx="548640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325880"/>
            <a:ext cx="91440" cy="329184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A1B2E"/>
                </a:solidFill>
                <a:latin typeface="Calibri"/>
              </a:rPr>
              <a:t>Standard vs Flexible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1828800"/>
            <a:ext cx="51206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STANDARD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Strict sandbox, fast cold starts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Fine-grained auto scale, lower cost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FLEXIBLE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Docker containers on GCE VMs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Custom runtimes &amp; longer requests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Full VPC networking options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846320"/>
            <a:ext cx="11247120" cy="502920"/>
          </a:xfrm>
          <a:prstGeom prst="roundRect">
            <a:avLst>
              <a:gd name="adj" fmla="val 8000"/>
            </a:avLst>
          </a:prstGeom>
          <a:solidFill>
            <a:srgbClr val="FF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6A4C"/>
                </a:solidFill>
                <a:latin typeface="Calibri"/>
              </a:rPr>
              <a:t>🌍  Real life:  Snapchat, Rovio (Angry Birds), and Khan Academy scaled early on App Engine — proving PaaS can serve millions without ops teams babysitting VMs.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Cloud Service Models — Where GAE 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D9BE0"/>
                </a:solidFill>
                <a:latin typeface="Calibri"/>
              </a:rPr>
              <a:t>Architecture decisions start with who manages what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  ·  Networking in the Cloud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361188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3611880" cy="64008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463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IaaS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240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0A1B2E"/>
                </a:solidFill>
                <a:latin typeface="Calibri"/>
              </a:rPr>
              <a:t>Infrastructure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7432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You manage OS, runtime, apps</a:t>
            </a:r>
          </a:p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Provider: hardware + virt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1148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E86A4C"/>
                </a:solidFill>
                <a:latin typeface="Calibri"/>
              </a:rPr>
              <a:t>Examples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Compute Engine, Amazon EC2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371600"/>
            <a:ext cx="361188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1371600"/>
            <a:ext cx="3611880" cy="64008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1463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PaaS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2240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0A1B2E"/>
                </a:solidFill>
                <a:latin typeface="Calibri"/>
              </a:rP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7432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You deploy code only</a:t>
            </a:r>
          </a:p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Provider: OS, scale, runtime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1148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A6FB5"/>
                </a:solidFill>
                <a:latin typeface="Calibri"/>
              </a:rPr>
              <a:t>Examples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App Engine, Heroku, Azure App Service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1371600"/>
            <a:ext cx="361188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60" y="1371600"/>
            <a:ext cx="3611880" cy="64008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1463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SaaS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2240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0A1B2E"/>
                </a:solidFill>
                <a:latin typeface="Calibri"/>
              </a:rPr>
              <a:t>Software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7432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Ready-to-use product</a:t>
            </a:r>
          </a:p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You just use the UI / 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1148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0DA5A0"/>
                </a:solidFill>
                <a:latin typeface="Calibri"/>
              </a:rPr>
              <a:t>Examples</a:t>
            </a:r>
          </a:p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Gmail, Docs, Salesforce, Zoom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Real-Life Architecture Choices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D9BE0"/>
                </a:solidFill>
                <a:latin typeface="Calibri"/>
              </a:rPr>
              <a:t>How top products map to IaaS / PaaS / FaaS / Containers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  ·  Networking in the Cloud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80160"/>
            <a:ext cx="112471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280160"/>
            <a:ext cx="2194560" cy="105156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5087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Netflix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8745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D9BE0"/>
                </a:solidFill>
                <a:latin typeface="Calibri"/>
              </a:rPr>
              <a:t>IaaS + Containers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60020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Chaos engineering on VMs/K8s; global CDN (Open Connect) — need full control of media pipelines.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468880"/>
            <a:ext cx="112471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468880"/>
            <a:ext cx="2194560" cy="105156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6974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Shopify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0632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D9BE0"/>
                </a:solidFill>
                <a:latin typeface="Calibri"/>
              </a:rPr>
              <a:t>PaaS / Containers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27889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Merchant storefronts surge on Black Friday → auto-scale platforms beat hand-tuned VMs.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657600"/>
            <a:ext cx="112471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657600"/>
            <a:ext cx="2194560" cy="105156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8862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Duolingo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2519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D9BE0"/>
                </a:solidFill>
                <a:latin typeface="Calibri"/>
              </a:rPr>
              <a:t>Functions + K8s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397764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Lesson XP events &amp; notifications via event-driven functions; core APIs on containers.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846320"/>
            <a:ext cx="112471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846320"/>
            <a:ext cx="2194560" cy="105156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50749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Zomato / Swiggy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4406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3D9BE0"/>
                </a:solidFill>
                <a:latin typeface="Calibri"/>
              </a:rPr>
              <a:t>Microservices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16636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Order, menu, delivery tracking as separate services behind LBs — Fancy Store pattern at city scale.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Topic 2 · Compute Engine — Scalable Web Apps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D9BE0"/>
                </a:solidFill>
                <a:latin typeface="Calibri"/>
              </a:rPr>
              <a:t>IaaS foundation: VMs, Cloud Shell, storage, firewalls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  ·  Networking in the Cloud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80160"/>
            <a:ext cx="365760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280160"/>
            <a:ext cx="91440" cy="41148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4173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A1B2E"/>
                </a:solidFill>
                <a:latin typeface="Calibri"/>
              </a:rPr>
              <a:t>Core building blocks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783080"/>
            <a:ext cx="3291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Regions &amp; zones for locality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Compute Engine API enabled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Cloud Storage buckets for code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Startup scripts automate boot: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    install runtime → pull code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    → Supervisor → non-root user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Network tags + firewall rules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gcloud CLI / Cloud Shell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280160"/>
            <a:ext cx="365760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280160"/>
            <a:ext cx="91440" cy="411480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14173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A1B2E"/>
                </a:solidFill>
                <a:latin typeface="Calibri"/>
              </a:rPr>
              <a:t>Fancy Store lab pattern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1783080"/>
            <a:ext cx="3291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Monolith → microservices: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Frontend  :8080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Orders    :8081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Products  :8082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Code lives in GCS; VMs pull at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startup (stateless image).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Firewall tags: frontend / backend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280160"/>
            <a:ext cx="365760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280160"/>
            <a:ext cx="91440" cy="411480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14173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A1B2E"/>
                </a:solidFill>
                <a:latin typeface="Calibri"/>
              </a:rPr>
              <a:t>Real-life parallels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1783080"/>
            <a:ext cx="3291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Banks lift legacy Java apps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  onto GCE before containerizing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Media encode farms use custom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  machine types / GPUs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“Pets → Cattle”: identical VMs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  from templates, not unique pets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Same idea as AWS EC2 + S3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  user-data scripts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Topic 3 · Beyond a Single VM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D9BE0"/>
                </a:solidFill>
                <a:latin typeface="Calibri"/>
              </a:rPr>
              <a:t>MIG · Load Balancers · Autohealing · CDN — the heart of cloud networking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  ·  Networking in the Cloud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91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86A4C"/>
                </a:solidFill>
                <a:latin typeface="Calibri"/>
              </a:rPr>
              <a:t>Problem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0A1B2E"/>
                </a:solidFill>
                <a:latin typeface="Calibri"/>
              </a:rPr>
              <a:t>Single point of failure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4688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DA5A0"/>
                </a:solidFill>
                <a:latin typeface="Calibri"/>
              </a:rPr>
              <a:t>Solution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0A1B2E"/>
                </a:solidFill>
                <a:latin typeface="Calibri"/>
              </a:rPr>
              <a:t>Managed Instance Groups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37160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1691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86A4C"/>
                </a:solidFill>
                <a:latin typeface="Calibri"/>
              </a:rPr>
              <a:t>Problem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0A1B2E"/>
                </a:solidFill>
                <a:latin typeface="Calibri"/>
              </a:rPr>
              <a:t>No load distribution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4688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DA5A0"/>
                </a:solidFill>
                <a:latin typeface="Calibri"/>
              </a:rPr>
              <a:t>Solution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0A1B2E"/>
                </a:solidFill>
                <a:latin typeface="Calibri"/>
              </a:rPr>
              <a:t>HTTP(S) Load Balancer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37160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691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86A4C"/>
                </a:solidFill>
                <a:latin typeface="Calibri"/>
              </a:rPr>
              <a:t>Problem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0A1B2E"/>
                </a:solidFill>
                <a:latin typeface="Calibri"/>
              </a:rPr>
              <a:t>Manual scaling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4688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DA5A0"/>
                </a:solidFill>
                <a:latin typeface="Calibri"/>
              </a:rPr>
              <a:t>Solution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0A1B2E"/>
                </a:solidFill>
                <a:latin typeface="Calibri"/>
              </a:rPr>
              <a:t>Autoscaling policies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56616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886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86A4C"/>
                </a:solidFill>
                <a:latin typeface="Calibri"/>
              </a:rPr>
              <a:t>Problem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0A1B2E"/>
                </a:solidFill>
                <a:latin typeface="Calibri"/>
              </a:rPr>
              <a:t>No auto recovery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634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DA5A0"/>
                </a:solidFill>
                <a:latin typeface="Calibri"/>
              </a:rPr>
              <a:t>Solution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0A1B2E"/>
                </a:solidFill>
                <a:latin typeface="Calibri"/>
              </a:rPr>
              <a:t>Health checks + autohealing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356616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3886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86A4C"/>
                </a:solidFill>
                <a:latin typeface="Calibri"/>
              </a:rPr>
              <a:t>Problem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0A1B2E"/>
                </a:solidFill>
                <a:latin typeface="Calibri"/>
              </a:rPr>
              <a:t>Slow global media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6634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DA5A0"/>
                </a:solidFill>
                <a:latin typeface="Calibri"/>
              </a:rPr>
              <a:t>Solution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0A1B2E"/>
                </a:solidFill>
                <a:latin typeface="Calibri"/>
              </a:rPr>
              <a:t>Cloud CDN at the edge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566160"/>
            <a:ext cx="3611880" cy="1920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3886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E86A4C"/>
                </a:solidFill>
                <a:latin typeface="Calibri"/>
              </a:rPr>
              <a:t>Problem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0A1B2E"/>
                </a:solidFill>
                <a:latin typeface="Calibri"/>
              </a:rPr>
              <a:t>Risky deploy nights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6634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0DA5A0"/>
                </a:solidFill>
                <a:latin typeface="Calibri"/>
              </a:rPr>
              <a:t>Solution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0A1B2E"/>
                </a:solidFill>
                <a:latin typeface="Calibri"/>
              </a:rPr>
              <a:t>Rolling updates / replace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Instance Templates &amp; Managed Instance Groups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D9BE0"/>
                </a:solidFill>
                <a:latin typeface="Calibri"/>
              </a:rPr>
              <a:t>Blueprints + self-healing fleets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  ·  Networking in the Cloud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80160"/>
            <a:ext cx="548640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280160"/>
            <a:ext cx="91440" cy="347472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417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A1B2E"/>
                </a:solidFill>
                <a:latin typeface="Calibri"/>
              </a:rPr>
              <a:t>Instance Template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783080"/>
            <a:ext cx="51206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Immutable blueprint: machine type, disk,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network, startup script, tags.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Change? Create a NEW template, then roll it.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Create from an existing VM (stop first for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consistent disk state).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280160"/>
            <a:ext cx="548640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280160"/>
            <a:ext cx="91440" cy="347472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417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A1B2E"/>
                </a:solidFill>
                <a:latin typeface="Calibri"/>
              </a:rPr>
              <a:t>Managed Instance Group (MIG)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1783080"/>
            <a:ext cx="51206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Identical VMs managed as one entity.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High availability &amp; autohealing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Load balancing ready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Autoscaling &amp; rolling updates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Named ports (frontend:8080, …)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MIG (managed) ≫ unmanaged ad-hoc groups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for production.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029200"/>
            <a:ext cx="11247120" cy="502920"/>
          </a:xfrm>
          <a:prstGeom prst="roundRect">
            <a:avLst>
              <a:gd name="adj" fmla="val 8000"/>
            </a:avLst>
          </a:prstGeom>
          <a:solidFill>
            <a:srgbClr val="FF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120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6A4C"/>
                </a:solidFill>
                <a:latin typeface="Calibri"/>
              </a:rPr>
              <a:t>🌍  Real life:  Flipkart / Amazon Big Billion / Prime Day: fleets grow with traffic and shrink overnight — MIG-style autoscaling is how flash sales stay online.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HTTP(S) Load Balancer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D9BE0"/>
                </a:solidFill>
                <a:latin typeface="Calibri"/>
              </a:rPr>
              <a:t>Global Layer-7 traffic → healthy backends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  ·  Networking in the Cloud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554480"/>
            <a:ext cx="219456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43000" y="1783080"/>
            <a:ext cx="640080" cy="640080"/>
          </a:xfrm>
          <a:prstGeom prst="ellipse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1874519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517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Forwarding Rule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2918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Public IP + port 80/443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97479" y="1554480"/>
            <a:ext cx="219456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74719" y="1783080"/>
            <a:ext cx="640080" cy="640080"/>
          </a:xfrm>
          <a:prstGeom prst="ellipse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19" y="1874519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19" y="26517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Target HTTP Proxy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19" y="32918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Terminates HTTP, reads URL map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1554480"/>
            <a:ext cx="219456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806440" y="1783080"/>
            <a:ext cx="640080" cy="640080"/>
          </a:xfrm>
          <a:prstGeom prst="ellipse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06440" y="1874519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26517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URL Map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32918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/ → FE · /api/orders · /api/products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60919" y="1554480"/>
            <a:ext cx="219456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138159" y="1783080"/>
            <a:ext cx="640080" cy="640080"/>
          </a:xfrm>
          <a:prstGeom prst="ellipse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59" y="1874519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59" y="26517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Backend Services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59" y="32918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Health checks + capacity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92640" y="1554480"/>
            <a:ext cx="2194560" cy="2560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469880" y="1783080"/>
            <a:ext cx="640080" cy="640080"/>
          </a:xfrm>
          <a:prstGeom prst="ellipse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69880" y="1874519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265176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MIG Instances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32918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Actual app VMs / Pods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4572000"/>
            <a:ext cx="11247120" cy="502920"/>
          </a:xfrm>
          <a:prstGeom prst="roundRect">
            <a:avLst>
              <a:gd name="adj" fmla="val 8000"/>
            </a:avLst>
          </a:prstGeom>
          <a:solidFill>
            <a:srgbClr val="FF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663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6A4C"/>
                </a:solidFill>
                <a:latin typeface="Calibri"/>
              </a:rPr>
              <a:t>🌍  Real life:  Google Search / YouTube Front Ends: one anycast IP worldwide — same idea as GCP’s global HTTP(S) LB routing users to the nearest healthy backend.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3035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Pro tip: lab often uses HTTP for simplicity — production must terminate HTTPS and protect health-check IP ranges.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Autohealing, Rolling Updates &amp; Cloud CDN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D9BE0"/>
                </a:solidFill>
                <a:latin typeface="Calibri"/>
              </a:rPr>
              <a:t>Recover, release, and accelerate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  ·  Networking in the Cloud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80160"/>
            <a:ext cx="365760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280160"/>
            <a:ext cx="91440" cy="411480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4173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A1B2E"/>
                </a:solidFill>
                <a:latin typeface="Calibri"/>
              </a:rPr>
              <a:t>Health &amp; Autohealing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783080"/>
            <a:ext cx="3291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Health checks probe / or /api/*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Unhealthy? MIG recreates the VM.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Separate LB health checks from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autohealing checks when needed.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Lab: supervisorctl stop → watch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healing recreate the instance.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280160"/>
            <a:ext cx="365760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280160"/>
            <a:ext cx="91440" cy="41148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14173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A1B2E"/>
                </a:solidFill>
                <a:latin typeface="Calibri"/>
              </a:rPr>
              <a:t>Rolling Updates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1783080"/>
            <a:ext cx="3291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maxSurge / maxUnavailable control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how many new vs old VMs exist.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Keeps minimum capacity healthy.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Safer than “stop all → redeploy”.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Also: rolling replace after you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upload new code to GCS.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280160"/>
            <a:ext cx="365760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280160"/>
            <a:ext cx="91440" cy="411480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14173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A1B2E"/>
                </a:solidFill>
                <a:latin typeface="Calibri"/>
              </a:rPr>
              <a:t>Cloud CDN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1783080"/>
            <a:ext cx="3291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Cache static assets at Google’s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edge — images, JS, CSS, video.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Enable on frontend backend service.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Cuts origin load &amp; latency.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Twitch / Disney+ / Cloudflare-class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patterns: cache near the viewer.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Topic 4 · App Engine Flexible &amp; Exploring PaaS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D9BE0"/>
                </a:solidFill>
                <a:latin typeface="Calibri"/>
              </a:rPr>
              <a:t>Docker-powered PaaS when sandbox Standard is too tight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  ·  Networking in the Cloud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80160"/>
            <a:ext cx="548640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280160"/>
            <a:ext cx="91440" cy="329184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417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A1B2E"/>
                </a:solidFill>
                <a:latin typeface="Calibri"/>
              </a:rPr>
              <a:t>When Flexible wins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783080"/>
            <a:ext cx="51206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Custom OS packages / native libs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Long requests (up to ~60 minutes)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SSH into underlying VMs for debug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Full VPC integration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Pay for vCPU + memory used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Region choice is permanent — pick close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to users on day one.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280160"/>
            <a:ext cx="548640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280160"/>
            <a:ext cx="91440" cy="329184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417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A1B2E"/>
                </a:solidFill>
                <a:latin typeface="Calibri"/>
              </a:rPr>
              <a:t>PaaS in practice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1783080"/>
            <a:ext cx="51206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Languages: Java, Python, Go, PHP,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Node.js, Ruby… (modern runtimes).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Workflow: local SDK → gcloud app deploy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→ Google scales &amp; load balances.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Data services: Cloud SQL, Firestore,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Cloud Storage, Memcache.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846320"/>
            <a:ext cx="11247120" cy="502920"/>
          </a:xfrm>
          <a:prstGeom prst="roundRect">
            <a:avLst>
              <a:gd name="adj" fmla="val 8000"/>
            </a:avLst>
          </a:prstGeom>
          <a:solidFill>
            <a:srgbClr val="FF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6A4C"/>
                </a:solidFill>
                <a:latin typeface="Calibri"/>
              </a:rPr>
              <a:t>🌍  Real life:  Khan Academy used App Engine to teach millions with a small platform team — PaaS trades control for shipping speed, which is perfect for education &amp; content sites.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Topic 5 · Event-Driven Cloud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D9BE0"/>
                </a:solidFill>
                <a:latin typeface="Calibri"/>
              </a:rPr>
              <a:t>Serverless FaaS — pay per invocation, scale 0 → 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  ·  Networking in the Cloud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325880"/>
            <a:ext cx="347472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325880"/>
            <a:ext cx="3474720" cy="41148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3716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Event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92024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Upload / HTTP /
Pub/Sub / Firestore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325880"/>
            <a:ext cx="347472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325880"/>
            <a:ext cx="3474720" cy="41148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3716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Trigger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92024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Cloud Function
wakes automatically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325880"/>
            <a:ext cx="347472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325880"/>
            <a:ext cx="3474720" cy="41148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3716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Execute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192024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Run business logic
return or fan-out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200400"/>
            <a:ext cx="54864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200400"/>
            <a:ext cx="91440" cy="219456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3375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A1B2E"/>
                </a:solidFill>
                <a:latin typeface="Calibri"/>
              </a:rPr>
              <a:t>2nd gen (recommended)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70332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Built on Cloud Run • longer timeouts • more concurrency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CloudEvents standard across runtimes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Triggers: HTTP, Storage, Pub/Sub, Firestore, Audit logs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Watch cold starts — keep functions small; min instances help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200400"/>
            <a:ext cx="54864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3200400"/>
            <a:ext cx="91440" cy="219456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33375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A1B2E"/>
                </a:solidFill>
                <a:latin typeface="Calibri"/>
              </a:rPr>
              <a:t>Real-life triggers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70332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Instagram/WhatsApp-style: resize image on Storage upload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UPI banks: Pub/Sub fraud-scoring function on each txn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IoT fleet: telemetry → function → BigQuery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Webhooks: Stripe / Razorpay payment events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Choose Your Compute: Functions vs App Engine vs GCE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D9BE0"/>
                </a:solidFill>
                <a:latin typeface="Calibri"/>
              </a:rPr>
              <a:t>One of the most asked exam &amp; interview questions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  ·  Networking in the Cloud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371600"/>
            <a:ext cx="2788920" cy="50292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44752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Aspect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371600"/>
            <a:ext cx="2788920" cy="50292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444752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Cloud Functions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2788920" cy="50292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444752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App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1371600"/>
            <a:ext cx="2788920" cy="50292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444752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Compute Engine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1920240"/>
            <a:ext cx="27889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05740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A1B2E"/>
                </a:solidFill>
                <a:latin typeface="Calibri"/>
              </a:rPr>
              <a:t>Model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1920240"/>
            <a:ext cx="27889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0" y="205740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FaaS / Serverless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920240"/>
            <a:ext cx="27889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205740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PaaS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0" y="1920240"/>
            <a:ext cx="27889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0" y="205740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IaaS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560320"/>
            <a:ext cx="2788920" cy="5943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269748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A1B2E"/>
                </a:solidFill>
                <a:latin typeface="Calibri"/>
              </a:rPr>
              <a:t>Deploy unit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91840" y="2560320"/>
            <a:ext cx="2788920" cy="5943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83280" y="269748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Single function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2560320"/>
            <a:ext cx="2788920" cy="5943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269748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Application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0" y="2560320"/>
            <a:ext cx="2788920" cy="5943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35440" y="269748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Virtual machine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200400"/>
            <a:ext cx="27889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333756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A1B2E"/>
                </a:solidFill>
                <a:latin typeface="Calibri"/>
              </a:rPr>
              <a:t>Scaling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91840" y="3200400"/>
            <a:ext cx="27889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83280" y="333756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0 → N auto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3200400"/>
            <a:ext cx="27889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0" y="333756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Auto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200400"/>
            <a:ext cx="27889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35440" y="333756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Manual / MIG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3840479"/>
            <a:ext cx="2788920" cy="5943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3977639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A1B2E"/>
                </a:solidFill>
                <a:latin typeface="Calibri"/>
              </a:rPr>
              <a:t>Billing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91840" y="3840479"/>
            <a:ext cx="2788920" cy="5943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83280" y="3977639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Per invocation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3840479"/>
            <a:ext cx="2788920" cy="5943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09360" y="3977639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Instance-hours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44000" y="3840479"/>
            <a:ext cx="2788920" cy="5943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35440" y="3977639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VM-hours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4480560"/>
            <a:ext cx="27889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461772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A1B2E"/>
                </a:solidFill>
                <a:latin typeface="Calibri"/>
              </a:rPr>
              <a:t>Best for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91840" y="4480560"/>
            <a:ext cx="27889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383280" y="461772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Events &amp; glue code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17920" y="4480560"/>
            <a:ext cx="27889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09360" y="461772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Web apps &amp; APIs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44000" y="4480560"/>
            <a:ext cx="27889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235440" y="461772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C2B3A"/>
                </a:solidFill>
                <a:latin typeface="Calibri"/>
              </a:rPr>
              <a:t>Custom / legacy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53035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DA5A0"/>
                </a:solidFill>
                <a:latin typeface="Calibri"/>
              </a:rPr>
              <a:t>Rule of thumb: start managed (Functions / App Engine / Cloud Run). Drop to GCE/GKE only when you need control that PaaS cannot give.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Topic 6 · Google Kubernetes Engine (GKE)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D9BE0"/>
                </a:solidFill>
                <a:latin typeface="Calibri"/>
              </a:rPr>
              <a:t>Managed Kubernetes born from Google’s Borg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  ·  Networking in the Cloud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80160"/>
            <a:ext cx="548640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280160"/>
            <a:ext cx="91440" cy="32004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417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A1B2E"/>
                </a:solidFill>
                <a:latin typeface="Calibri"/>
              </a:rPr>
              <a:t>When to use GKE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783080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Multi-container apps &amp; microservices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Portable workloads (cloud ↔ on-prem)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Service discovery + advanced networking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CI/CD of container images at scale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Prefer App Engine/Cloud Run for simple web;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Functions for events; GCE for legacy VMs.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280160"/>
            <a:ext cx="5486400" cy="3200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280160"/>
            <a:ext cx="91440" cy="320040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417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A1B2E"/>
                </a:solidFill>
                <a:latin typeface="Calibri"/>
              </a:rPr>
              <a:t>Architecture essentials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1783080"/>
            <a:ext cx="5120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Control plane (Google-managed): API server,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scheduler, controllers, etcd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Nodes = GCE VMs with kubelet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Pod = smallest deployable unit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Deployment = replicas + rolling updates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Service = stable network endpoint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754880"/>
            <a:ext cx="11247120" cy="502920"/>
          </a:xfrm>
          <a:prstGeom prst="roundRect">
            <a:avLst>
              <a:gd name="adj" fmla="val 8000"/>
            </a:avLst>
          </a:prstGeom>
          <a:solidFill>
            <a:srgbClr val="FF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846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6A4C"/>
                </a:solidFill>
                <a:latin typeface="Calibri"/>
              </a:rPr>
              <a:t>🌍  Real life:  Pokémon GO famously rode Kubernetes during launch spikes; Spotify &amp; Airbnb run large microservice meshes on K8s for portability and density.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GKE Modes — Autopilot vs Standard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D9BE0"/>
                </a:solidFill>
                <a:latin typeface="Calibri"/>
              </a:rPr>
              <a:t>Choose ops burden vs knobs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  ·  Networking in the Cloud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25880"/>
            <a:ext cx="548640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91440" cy="411480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A1B2E"/>
                </a:solidFill>
                <a:latin typeface="Calibri"/>
              </a:rPr>
              <a:t>Autopilot (recommended default)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828800"/>
            <a:ext cx="5120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Google manages nodes AND control plane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Pay only for Pod CPU/memory requests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Hardened defaults + node auto-repair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Pod-level SLA, less ops work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Great for most production microservices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gcloud container clusters create-auto 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25880"/>
            <a:ext cx="548640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325880"/>
            <a:ext cx="91440" cy="41148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4630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A1B2E"/>
                </a:solidFill>
                <a:latin typeface="Calibri"/>
              </a:rPr>
              <a:t>Standard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1828800"/>
            <a:ext cx="5120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You size &amp; tune nodes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Pay for whole node (even idle)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GPUs, custom machines, taints…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Node auto-provisioning optional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Release channels: Rapid / Regular / Stable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Pick when you need exotic hardware or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cluster-level customization.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Topic 7 · Deploying Containers on GKE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D9BE0"/>
                </a:solidFill>
                <a:latin typeface="Calibri"/>
              </a:rPr>
              <a:t>Artifact Registry → Cluster → Deployment → HPA → Service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  ·  Networking in the Cloud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361188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109728" cy="173736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7373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A1B2E"/>
                </a:solidFill>
                <a:latin typeface="Calibri"/>
              </a:rPr>
              <a:t>1. Build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286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A6B7C"/>
                </a:solidFill>
                <a:latin typeface="Calibri"/>
              </a:rPr>
              <a:t>docker build → image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371600"/>
            <a:ext cx="361188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371600"/>
            <a:ext cx="109728" cy="173736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17373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A1B2E"/>
                </a:solidFill>
                <a:latin typeface="Calibri"/>
              </a:rPr>
              <a:t>2. Store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286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A6B7C"/>
                </a:solidFill>
                <a:latin typeface="Calibri"/>
              </a:rPr>
              <a:t>Artifact Registry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371600"/>
            <a:ext cx="361188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371600"/>
            <a:ext cx="109728" cy="173736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8200" y="17373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A1B2E"/>
                </a:solidFill>
                <a:latin typeface="Calibri"/>
              </a:rPr>
              <a:t>3. Cluster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2286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A6B7C"/>
                </a:solidFill>
                <a:latin typeface="Calibri"/>
              </a:rPr>
              <a:t>Autopilot / Standard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383280"/>
            <a:ext cx="361188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383280"/>
            <a:ext cx="109728" cy="173736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7490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A1B2E"/>
                </a:solidFill>
                <a:latin typeface="Calibri"/>
              </a:rPr>
              <a:t>4. Deploy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2976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A6B7C"/>
                </a:solidFill>
                <a:latin typeface="Calibri"/>
              </a:rPr>
              <a:t>kubectl Deployment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3383280"/>
            <a:ext cx="361188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7680" y="3383280"/>
            <a:ext cx="109728" cy="173736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17720" y="37490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A1B2E"/>
                </a:solidFill>
                <a:latin typeface="Calibri"/>
              </a:rPr>
              <a:t>5. Scale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42976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A6B7C"/>
                </a:solidFill>
                <a:latin typeface="Calibri"/>
              </a:rPr>
              <a:t>HPA on CPU 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3383280"/>
            <a:ext cx="361188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8160" y="3383280"/>
            <a:ext cx="109728" cy="173736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58200" y="37490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A1B2E"/>
                </a:solidFill>
                <a:latin typeface="Calibri"/>
              </a:rPr>
              <a:t>6. Expose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42976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A6B7C"/>
                </a:solidFill>
                <a:latin typeface="Calibri"/>
              </a:rPr>
              <a:t>Service / LB / Ingress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Topic 8 · Cloud Principles &amp; Well-Architected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D9BE0"/>
                </a:solidFill>
                <a:latin typeface="Calibri"/>
              </a:rPr>
              <a:t>NIST fundamentals + Google’s design pillars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  ·  Networking in the Cloud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325880"/>
            <a:ext cx="21945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508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A6FB5"/>
                </a:solidFill>
                <a:latin typeface="Calibri"/>
              </a:rPr>
              <a:t>On-demand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011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Self-service provisioning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97479" y="1325880"/>
            <a:ext cx="21945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88919" y="1508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A6FB5"/>
                </a:solidFill>
                <a:latin typeface="Calibri"/>
              </a:rPr>
              <a:t>Broad 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19" y="2011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Any device over network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1325880"/>
            <a:ext cx="21945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1508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A6FB5"/>
                </a:solidFill>
                <a:latin typeface="Calibri"/>
              </a:rPr>
              <a:t>Pooling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011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Multi-tenant efficiency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60919" y="1325880"/>
            <a:ext cx="21945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52359" y="1508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A6FB5"/>
                </a:solidFill>
                <a:latin typeface="Calibri"/>
              </a:rPr>
              <a:t>Elasticity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59" y="2011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Scale up/down fast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92640" y="1325880"/>
            <a:ext cx="21945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0" y="15087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1A6FB5"/>
                </a:solidFill>
                <a:latin typeface="Calibri"/>
              </a:rPr>
              <a:t>Measured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2011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Calibri"/>
              </a:rPr>
              <a:t>Utility pay-as-you-go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017520"/>
            <a:ext cx="36118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3017520"/>
            <a:ext cx="3611880" cy="9144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246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Operational Excellence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6576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Automate, monitor, learn from failure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97680" y="3017520"/>
            <a:ext cx="36118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97680" y="3017520"/>
            <a:ext cx="3611880" cy="9144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0560" y="3246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Security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36576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IAM, least privilege, encrypt in transit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8160" y="3017520"/>
            <a:ext cx="36118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38160" y="3017520"/>
            <a:ext cx="3611880" cy="9144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0" y="3246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Reliability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36576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HA, autohealing, assume pods die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434840"/>
            <a:ext cx="36118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4434840"/>
            <a:ext cx="3611880" cy="914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4663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Performance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0749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Right-size, HPA, CDN, Memcache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297680" y="4434840"/>
            <a:ext cx="36118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97680" y="4434840"/>
            <a:ext cx="3611880" cy="9144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80560" y="4663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Cost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80560" y="50749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Delete idle, Spot Pods, Autopilot pay-per-pod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38160" y="4434840"/>
            <a:ext cx="361188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138160" y="4434840"/>
            <a:ext cx="3611880" cy="9144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21040" y="4663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A1B2E"/>
                </a:solidFill>
                <a:latin typeface="Calibri"/>
              </a:rPr>
              <a:t>Sustainability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50749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No idle waste; serverless when possible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Shared Responsibility — Who Owns What?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D9BE0"/>
                </a:solidFill>
                <a:latin typeface="Calibri"/>
              </a:rPr>
              <a:t>Cloud ≠ “Google secures everything”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  ·  Networking in the Cloud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25880"/>
            <a:ext cx="112471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2743200" cy="86868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600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Always yours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60020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App code, data classification, IAM identity design, secrets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331720"/>
            <a:ext cx="112471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331720"/>
            <a:ext cx="2743200" cy="86868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606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GAE / Functions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60604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You: app + data · Google: runtime, OS, infra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337560"/>
            <a:ext cx="112471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337560"/>
            <a:ext cx="2743200" cy="86868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6118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Compute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361188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You: OS patches, apps, network config · Google: hardware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343400"/>
            <a:ext cx="1124712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343400"/>
            <a:ext cx="2743200" cy="86868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6177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GKE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4617720"/>
            <a:ext cx="79552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Google: control plane · You: workloads (nodes shared/Autopilot)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Topic 9 · Disaster Recovery in the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D9BE0"/>
                </a:solidFill>
                <a:latin typeface="Calibri"/>
              </a:rPr>
              <a:t>Backup ≠ DR — define RTO &amp; RPO first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  ·  Networking in the Cloud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80160"/>
            <a:ext cx="548640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280160"/>
            <a:ext cx="91440" cy="237744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417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A1B2E"/>
                </a:solidFill>
                <a:latin typeface="Calibri"/>
              </a:rPr>
              <a:t>Key metrics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78308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RTO — Recovery Time Objective: max downtime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RPO — Recovery Point Objective: max data loss window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Lower RTO/RPO ⇒ more $ (hot standby / multi-site)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280160"/>
            <a:ext cx="548640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280160"/>
            <a:ext cx="91440" cy="237744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417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A1B2E"/>
                </a:solidFill>
                <a:latin typeface="Calibri"/>
              </a:rPr>
              <a:t>Strategy ladder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178308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Backup &amp; Restore → Pilot Light → Warm Standby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→ Hot Standby → Multi-site Active-Active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HA patterns: MIG, replicas, LB, multi-zone/region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931920"/>
            <a:ext cx="11247120" cy="502920"/>
          </a:xfrm>
          <a:prstGeom prst="roundRect">
            <a:avLst>
              <a:gd name="adj" fmla="val 8000"/>
            </a:avLst>
          </a:prstGeom>
          <a:solidFill>
            <a:srgbClr val="FFF4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023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E86A4C"/>
                </a:solidFill>
                <a:latin typeface="Calibri"/>
              </a:rPr>
              <a:t>🌍  Real life:  Airlines &amp; UPI apps target near-zero RTO with active-active regions. A campus portal may accept hours (cheap backup/restore). Match strategy to business pain.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75488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GCP toolkit from the unit: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Cloud Storage versioning · GCE disk snapshots · Cloud SQL automated backups · multi-zone MIG/GKE · global LB failover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Topic 10 · Infrastructure as Code (IaC)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D9BE0"/>
                </a:solidFill>
                <a:latin typeface="Calibri"/>
              </a:rPr>
              <a:t>Machines from files — repeatable, reviewable, recoverable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  ·  Networking in the Cloud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80160"/>
            <a:ext cx="365760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280160"/>
            <a:ext cx="91440" cy="41148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4173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A1B2E"/>
                </a:solidFill>
                <a:latin typeface="Calibri"/>
              </a:rPr>
              <a:t>Why IaC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783080"/>
            <a:ext cx="3291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Repeatability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Git history = audit trail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Fewer console typos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Docs that can’t rot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Rebuild after disaster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Imperative: gcloud create…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Declarative: desired state=2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280160"/>
            <a:ext cx="365760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280160"/>
            <a:ext cx="91440" cy="411480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14173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A1B2E"/>
                </a:solidFill>
                <a:latin typeface="Calibri"/>
              </a:rPr>
              <a:t>Tool 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1783080"/>
            <a:ext cx="3291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Terraform — multi-cloud HCL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Deployment Manager — GCP YAML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CloudFormation — AWS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Ansible — config over SSH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Pulumi — Python/TS/Go IaC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Templates &amp; MIG size = declarative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mindset you already practiced.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280160"/>
            <a:ext cx="3657600" cy="4114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280160"/>
            <a:ext cx="91440" cy="411480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14173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A1B2E"/>
                </a:solidFill>
                <a:latin typeface="Calibri"/>
              </a:rPr>
              <a:t>Real-life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1783080"/>
            <a:ext cx="32918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HashiCorp Terraform at banks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  for regulated change control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Spotify Backstage + IaC for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  self-service environments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Your Fancy Store firewall →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  google_compute_firewall{}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Never commit secrets — use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  Secret Manager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Topic 11 · CI/CD &amp; DevOps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D9BE0"/>
                </a:solidFill>
                <a:latin typeface="Calibri"/>
              </a:rPr>
              <a:t>From git push to verified production — automatically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  ·  Networking in the Cloud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325880"/>
            <a:ext cx="1828800" cy="777240"/>
          </a:xfrm>
          <a:prstGeom prst="roundRect">
            <a:avLst>
              <a:gd name="adj" fmla="val 8000"/>
            </a:avLst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4630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Code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77440" y="1325880"/>
            <a:ext cx="1828800" cy="777240"/>
          </a:xfrm>
          <a:prstGeom prst="roundRect">
            <a:avLst>
              <a:gd name="adj" fmla="val 8000"/>
            </a:avLst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77440" y="14630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Build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325880"/>
            <a:ext cx="1828800" cy="777240"/>
          </a:xfrm>
          <a:prstGeom prst="roundRect">
            <a:avLst>
              <a:gd name="adj" fmla="val 8000"/>
            </a:avLst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14630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Test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1325880"/>
            <a:ext cx="1828800" cy="777240"/>
          </a:xfrm>
          <a:prstGeom prst="roundRect">
            <a:avLst>
              <a:gd name="adj" fmla="val 8000"/>
            </a:avLst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59" y="14630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Artifact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19" y="1325880"/>
            <a:ext cx="1828800" cy="777240"/>
          </a:xfrm>
          <a:prstGeom prst="roundRect">
            <a:avLst>
              <a:gd name="adj" fmla="val 8000"/>
            </a:avLst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19" y="14630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Deploy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41280" y="1325880"/>
            <a:ext cx="1828800" cy="777240"/>
          </a:xfrm>
          <a:prstGeom prst="roundRect">
            <a:avLst>
              <a:gd name="adj" fmla="val 8000"/>
            </a:avLst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0" y="14630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Verify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377440"/>
            <a:ext cx="365760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2377440"/>
            <a:ext cx="91440" cy="301752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514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A1B2E"/>
                </a:solidFill>
                <a:latin typeface="Calibri"/>
              </a:rPr>
              <a:t>Concepts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2880360"/>
            <a:ext cx="3291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CI — integrate often; build+test every push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Continuous Delivery — always deployable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Continuous Deployment — auto to prod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Tools: Cloud Build, Cloud Deploy,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GitHub Actions, GitLab CI, Jenkins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2377440"/>
            <a:ext cx="365760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7680" y="2377440"/>
            <a:ext cx="91440" cy="301752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80" y="2514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A1B2E"/>
                </a:solidFill>
                <a:latin typeface="Calibri"/>
              </a:rPr>
              <a:t>Strategies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2880360"/>
            <a:ext cx="3291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Rolling — MIG / GKE default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Blue-Green — swap environments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Canary — % traffic to new version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Recreate — simple but downtime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Health checks gate traffic;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rollback on failure.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2377440"/>
            <a:ext cx="3657600" cy="3017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8160" y="2377440"/>
            <a:ext cx="91440" cy="301752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66760" y="2514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A1B2E"/>
                </a:solidFill>
                <a:latin typeface="Calibri"/>
              </a:rPr>
              <a:t>Real-life pipelines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2880360"/>
            <a:ext cx="3291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Google ships internally with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  huge automated test matrices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GitHub (Actions) powering OSS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Indian unicorns: canary on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  payments before 100% cutover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• Lab map: gsutil + rolling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  replace = CD in miniature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Capstone Pattern — “Fancy Store” Networking Blueprint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D9BE0"/>
                </a:solidFill>
                <a:latin typeface="Calibri"/>
              </a:rPr>
              <a:t>Unit labs ≈ how modern e-commerce fleets are wired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  ·  Networking in the Cloud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3611880" cy="50292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4813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Users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1945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A6B7C"/>
                </a:solidFill>
                <a:latin typeface="Calibri"/>
              </a:rPr>
              <a:t>Browsers worldwide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371600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371600"/>
            <a:ext cx="3611880" cy="50292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4813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Global LB + CDN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1945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A6B7C"/>
                </a:solidFill>
                <a:latin typeface="Calibri"/>
              </a:rPr>
              <a:t>URL map to services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1371600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371600"/>
            <a:ext cx="3611880" cy="50292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4813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Frontend MIG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1945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A6B7C"/>
                </a:solidFill>
                <a:latin typeface="Calibri"/>
              </a:rPr>
              <a:t>Port 8080 · cached assets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474720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3474720"/>
            <a:ext cx="3611880" cy="50292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5844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Orders / Products MIG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2976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A6B7C"/>
                </a:solidFill>
                <a:latin typeface="Calibri"/>
              </a:rPr>
              <a:t>8081 / 8082 APIs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3474720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7680" y="3474720"/>
            <a:ext cx="3611880" cy="50292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60" y="35844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GCS + Templates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42976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A6B7C"/>
                </a:solidFill>
                <a:latin typeface="Calibri"/>
              </a:rPr>
              <a:t>Stateless code delivery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3474720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8160" y="3474720"/>
            <a:ext cx="3611880" cy="50292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358444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Health + Autoscale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42976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A6B7C"/>
                </a:solidFill>
                <a:latin typeface="Calibri"/>
              </a:rPr>
              <a:t>Heal, roll, grow, shrink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More Real-Life Cloud Stories (Beyond the Notes)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D9BE0"/>
                </a:solidFill>
                <a:latin typeface="Calibri"/>
              </a:rPr>
              <a:t>Connect theory to products students already use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  ·  Networking in the Cloud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80160"/>
            <a:ext cx="56235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80160"/>
            <a:ext cx="109728" cy="13716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4630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Hotstar / Disney+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87452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IPL finals: traffic multiplies 50–100×. Autoscale + CDN + multi-region = stay up during last-over sixes.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280160"/>
            <a:ext cx="56235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280160"/>
            <a:ext cx="109728" cy="137160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4630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PhonePe / GPay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187452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Payment spikes on salary day. Event pipelines + multi-zone HA + aggressive RTO for money movement.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2834639"/>
            <a:ext cx="56235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2834639"/>
            <a:ext cx="109728" cy="137160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01751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Zoom (COVID peak)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428999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Elastic capacity overnight. Measured service + rapid elasticity saved classrooms &amp; offices.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2834639"/>
            <a:ext cx="56235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2834639"/>
            <a:ext cx="109728" cy="13716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301751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Spotify Wrapped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428999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Batch + streaming analytics on containers; publish once a year but build on always-on data platforms.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4389120"/>
            <a:ext cx="56235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" y="4389120"/>
            <a:ext cx="109728" cy="137160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572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IRCTC window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98348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Ticket rush = classic thundering herd. Queues, caching, rate limits, and graceful degradation.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4389120"/>
            <a:ext cx="56235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4389120"/>
            <a:ext cx="109728" cy="137160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4572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A1B2E"/>
                </a:solidFill>
                <a:latin typeface="Calibri"/>
              </a:rPr>
              <a:t>Campus ERP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498348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B7C"/>
                </a:solidFill>
                <a:latin typeface="Calibri"/>
              </a:rPr>
              <a:t>Exam result day mimics cloud black Friday — plan HPA/MIG before the PDF drop.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Exam Rapid Revision — Must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D9BE0"/>
                </a:solidFill>
                <a:latin typeface="Calibri"/>
              </a:rPr>
              <a:t>High-frequency concepts from Unit II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  ·  Networking in the Cloud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34440"/>
            <a:ext cx="164592" cy="16459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18872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GAE = PaaS; GCE = IaaS; Cloud Functions = FaaS; GKE = managed Kubernetes (from Borg).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828800"/>
            <a:ext cx="164592" cy="164592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7830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Instance templates are immutable; MIGs deliver HA, autoscaling, rolling updates, autohealing.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423160"/>
            <a:ext cx="164592" cy="16459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3774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HTTP(S) LB chain: Forwarding rule → Target proxy → URL map → Backend service → MIG.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017520"/>
            <a:ext cx="164592" cy="164592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9718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Named ports tell the LB which port to hit (frontend:8080, orders:8081, products:8082).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11880"/>
            <a:ext cx="164592" cy="16459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56616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Autopilot pays per Pod resources; Standard pays for nodes — pick based on control needs.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206240"/>
            <a:ext cx="164592" cy="164592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16052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RTO = downtime budget; RPO = data-loss budget — drive DR tier selection.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800600"/>
            <a:ext cx="164592" cy="16459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7548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IaC: Terraform/DM/Ansible; startup scripts &amp; MIG size already teach the mindset.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394960"/>
            <a:ext cx="164592" cy="164592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3492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C2B3A"/>
                </a:solidFill>
                <a:latin typeface="Calibri"/>
              </a:rPr>
              <a:t>CI vs CD vs Continuous Deployment; rolling / blue-green / canary for safe releases.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D9BE0"/>
                </a:solidFill>
                <a:latin typeface="Calibri"/>
              </a:rPr>
              <a:t>What Unit II wants you to design for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CC-II  ·  Unit II  ·  Networking in the Cloud  ·  Parul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653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E8F1F8"/>
                </a:solidFill>
                <a:latin typeface="Calibri"/>
              </a:rPr>
              <a:t>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25880"/>
            <a:ext cx="1124712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325880"/>
            <a:ext cx="109728" cy="1005840"/>
          </a:xfrm>
          <a:prstGeom prst="rect">
            <a:avLst/>
          </a:prstGeom>
          <a:solidFill>
            <a:srgbClr val="1A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508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A1B2E"/>
                </a:solidFill>
                <a:latin typeface="Calibri"/>
              </a:rPr>
              <a:t>Design for failure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1828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Instances and Pods die. Health checks, MIG/GKE replicas, and multi-zone beat hero servers.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468880"/>
            <a:ext cx="1124712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468880"/>
            <a:ext cx="109728" cy="100584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651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A1B2E"/>
                </a:solidFill>
                <a:latin typeface="Calibri"/>
              </a:rPr>
              <a:t>Automate the path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971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Startup scripts → templates → IaC → CI/CD. Humans review; machines apply.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611880"/>
            <a:ext cx="1124712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611880"/>
            <a:ext cx="109728" cy="1005840"/>
          </a:xfrm>
          <a:prstGeom prst="rect">
            <a:avLst/>
          </a:prstGeom>
          <a:solidFill>
            <a:srgbClr val="E86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3794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A1B2E"/>
                </a:solidFill>
                <a:latin typeface="Calibri"/>
              </a:rPr>
              <a:t>Pick abstractions wisely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114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Don’t run Kubernetes for a brochure site. Don’t trap a banking core on a toy PaaS sandbox.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754880"/>
            <a:ext cx="1124712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754880"/>
            <a:ext cx="109728" cy="10058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937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A1B2E"/>
                </a:solidFill>
                <a:latin typeface="Calibri"/>
              </a:rPr>
              <a:t>Measure &amp; cache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257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B7C"/>
                </a:solidFill>
                <a:latin typeface="Calibri"/>
              </a:rPr>
              <a:t>Autoscaling needs signals; CDN and Memcache protect origins when the world shows up.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DA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3D9BE0"/>
                </a:solidFill>
                <a:latin typeface="Calibri"/>
              </a:rPr>
              <a:t>Questions · Discussion · Lab mapping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Source: CC-II Unit II notes (Networking in the Cloud)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E8F1F8"/>
                </a:solidFill>
                <a:latin typeface="Calibri"/>
              </a:rPr>
              <a:t>Enriched with industry case studies for classroom discussion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5A6B7C"/>
                </a:solidFill>
                <a:latin typeface="Calibri"/>
              </a:rPr>
              <a:t>Branch: cc-ii-ppt  ·  FIT &amp; CS, Parul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