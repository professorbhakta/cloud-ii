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DA5A0"/>
                </a:solidFill>
                <a:latin typeface="Calibri"/>
              </a:rPr>
              <a:t>CLOUD COMPUTING – II  ·  UNIT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Introduction to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Classroom deck  ·  ~37 slides with expanded teaching notes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DevOps · Pipelines · Jenkins / Actions / GitLab · Test &amp; Deploy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Longer explanations on key topics for lecture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FIT &amp; CS  ·  Parul University  ·  Weightage 15%  ·  7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By the end of Unit V you should be able to…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5087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258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Define DevOps &amp; 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18488"/>
            <a:ext cx="5257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Explain CI vs Continuous Delivery vs Continuous Deployment with examples.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5778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91440" cy="15087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3258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Draw a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618488"/>
            <a:ext cx="5257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Describe Source → Build → Test → Artifact → Deploy → Verify → Monitor.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80360"/>
            <a:ext cx="55778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880360"/>
            <a:ext cx="91440" cy="15087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9718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Compare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264408"/>
            <a:ext cx="5257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Jenkins, GitHub Actions (+ Copilot), GitLab CI, and Cloud Build for labs.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880360"/>
            <a:ext cx="55778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880360"/>
            <a:ext cx="91440" cy="1508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9718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Choose deploy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264408"/>
            <a:ext cx="5257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Pick rolling, blue-green, or canary — and practise rollback.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526280"/>
            <a:ext cx="55778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526280"/>
            <a:ext cx="91440" cy="15087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61772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Secure the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910328"/>
            <a:ext cx="5257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Secrets, least privilege, immutable artifacts, Prod approvals.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526280"/>
            <a:ext cx="55778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526280"/>
            <a:ext cx="91440" cy="15087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61772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Link Units 3–4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910328"/>
            <a:ext cx="5257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Connect IaC plan/apply and Kubernetes/Cloud Run rollouts to CI/CD.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Unit V Syllabus —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Five topics  ·  Practical 8: Cloud Build CI/CD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822960" cy="777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4630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Understanding DevOps and CI/CD Concepts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488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822960" cy="777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77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377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CI/CD Pipelines: Overview &amp; Implementation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632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822960" cy="777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2918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Tools — Jenkins, GitHub Actions (+ Copilot), GitLab CI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77639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822960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062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0623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Automated Testing &amp; Deployment Strategies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92040"/>
            <a:ext cx="822960" cy="7772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20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120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Best Practices for Secure &amp; Scalable CI/CD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DevOps and CI/CD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Why manual releases fail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DevOps as culture +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CI vs Continuous Delivery vs Continuous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Immutable artifacts &amp; course 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1.1  What problem does CI/CD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Big-bang releases hide risk until the worst moment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8872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88720"/>
            <a:ext cx="91440" cy="32004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8016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Traditional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72768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Develop for months in isolation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One huge merge near the deadline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Manual testing — often incomplete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Weekend / night release under stress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If broken → emergency hotfix by SSH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Blame games: Dev vs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5321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91440" cy="32004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2801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CI/CD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72768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Small, frequent commits to Git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Every change triggers build + tests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Same automated steps every time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Deploy with scripts / kubectl / gcloud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Rollback to previous image tag fast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Shared ownership of the release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72000"/>
            <a:ext cx="11338560" cy="169164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572000"/>
            <a:ext cx="109728" cy="16916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81728"/>
            <a:ext cx="10881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Without CI/CD, even a perfect Terraform stack and GKE cluster still depend on a human remembering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exact docker build / push / kubectl set image steps during result day or a production incident.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CI/CD makes that path automatic, reviewable, and repeatable — so quality feedback arrives in minutes, not weeks.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1.2  What is DevOps? (exam definition)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Culture first — tools second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88720"/>
            <a:ext cx="113385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88720"/>
            <a:ext cx="91440" cy="1965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80160"/>
            <a:ext cx="11018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Definition — write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72768"/>
            <a:ext cx="11018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DevOps is a culture and set of practices that combines Development and Operations to deliver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software faster and more reliably through collaboration, automation, measurement, and continuous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improvement.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One line: “DevOps is not only a tool — it is culture + automation so build, test, and release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become a shared, repeatable pipeline.”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337560"/>
            <a:ext cx="27889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337560"/>
            <a:ext cx="91440" cy="2606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429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Shared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721608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Everyone cares about the path to production, not only “throw over the wall”.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337560"/>
            <a:ext cx="27889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3337560"/>
            <a:ext cx="91440" cy="26060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3429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Automate toil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721608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Build, test, deploy, and much of infra become pipeline steps.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37560"/>
            <a:ext cx="27889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37560"/>
            <a:ext cx="91440" cy="26060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429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Fast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721608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Monitoring and incidents teach the next change.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337560"/>
            <a:ext cx="27889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20" y="3337560"/>
            <a:ext cx="91440" cy="26060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8" y="3429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Small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3721608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Frequent tiny releases beat rare giant risky 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1.3  CI vs Continuous Delivery vs Continuous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Both “CD” words — always expand the full phrase once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3703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91440" cy="32461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34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Continuous Integration (CI)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27048"/>
            <a:ext cx="33832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Developers merge code frequently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(often daily / per feature).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Each merge triggers automated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build + tests on a clean agent.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Goal: catch integration bugs early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before they reach users.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Example: npm test on every PR.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43000"/>
            <a:ext cx="3703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43000"/>
            <a:ext cx="91440" cy="32461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234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Continuous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527048"/>
            <a:ext cx="33832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Software is always in 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deployable state after CI.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Going to production usually needs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 human / business approval.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Pipeline already proved the build.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Common for payments, healthcare,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and university grade systems.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143000"/>
            <a:ext cx="35661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91440" cy="32461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2344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Continuous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527048"/>
            <a:ext cx="3246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Every change that passes the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pipeline is automatically released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to production — no approval gate.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Requires excellent automated tests,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observability, and fast rollback.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Often used for internal tools 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high-trust product teams.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572000"/>
            <a:ext cx="11338560" cy="169164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572000"/>
            <a:ext cx="109728" cy="16916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81728"/>
            <a:ext cx="10881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Exam tip: students lose marks by writing only “CD.” Say Continuous Delivery (approval before Prod)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or Continuous Deployment (auto-Prod). Both aim for fast feedback; they differ on whether a human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must still press “go” for production. Risk profile of the system decides which CD you choose.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1.4  Manual release vs CI/CD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Reproducibility and audit trail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88720"/>
            <a:ext cx="55778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88720"/>
            <a:ext cx="91440" cy="32461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8016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Manual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72768"/>
            <a:ext cx="5257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Engineer builds on a personal laptop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“Works on my machine” surprises in Prod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Tests are optional or forgotten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Copy files by hand / SSH under pressure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Hard to prove who deployed what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Weekend big-bang releases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91440" cy="32461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2801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CI/CD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72768"/>
            <a:ext cx="52120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Pipeline builds on clean agents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Same scripted steps for every commit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Tests gate merge and deploy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Scripted deploy to Cloud Run / GKE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Git history + pipeline logs = audit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Small, frequent, lower-risk releases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617720"/>
            <a:ext cx="11338560" cy="164592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617720"/>
            <a:ext cx="109728" cy="16459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27448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An artifact is the versioned output of the build — for example hello-app:&lt;git-sha&gt; in Artifact Registry.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Best practice: treat artifacts as immutable. Promote the same tested image Dev → Staging → Prod;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do not rebuild a “different” binary only for production. That is a classic exam / viva 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1.5  Why Unit V matters in the CC-II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Automation glues design, infra, and containers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88720"/>
            <a:ext cx="37033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88720"/>
            <a:ext cx="91440" cy="26517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801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Units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72768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Design cloud apps well; recover when infra or data fails (RTO/RPO, HA).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88720"/>
            <a:ext cx="37033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91440" cy="26517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2801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Units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572768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Create infrastructure as code; run microservices as containers on Kubernetes.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188720"/>
            <a:ext cx="37033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188720"/>
            <a:ext cx="91440" cy="26517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2801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Unit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572768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Automate build → test → deploy into those environments continuously and safely.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69080"/>
            <a:ext cx="11338560" cy="214884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69080"/>
            <a:ext cx="109728" cy="2148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78808"/>
            <a:ext cx="108813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Real-life parallel: a food-delivery platform ships many small services. Each pull request runs CI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(unit tests + image build). Staging auto-updates (Delivery with approval to Prod). The payments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service uses Continuous Delivery with mandatory approvers; a marketing microsite may use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Continuous Deployment. Same factory — different gates by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CI/CD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What a pipeline is and its stages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Triggers that start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Container path (Unit 4) and IaC path (Unit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Pipeline-as-code and Practical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2.1  What is a CI/CD pipeline?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Automated sequence from Git to a verified release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8872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88720"/>
            <a:ext cx="91440" cy="15544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80160"/>
            <a:ext cx="11018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72768"/>
            <a:ext cx="11018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 CI/CD pipeline is an automated sequence of stages that takes source code from version control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and produces a tested, deployable release — optionally deploying it to an environment.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Simple picture:  Code → Build → Test → Package/Push → Deploy → Verify → Monitor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718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971800"/>
            <a:ext cx="91440" cy="1828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6324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1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355848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Commit / merge triggers the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9718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31720" y="2971800"/>
            <a:ext cx="91440" cy="1828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32888" y="306324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2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8" y="3355848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Compile or docker build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29718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2971800"/>
            <a:ext cx="91440" cy="1828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306324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3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355848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Automated quality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9718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971800"/>
            <a:ext cx="91440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306324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4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355848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Store immutable 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29718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2971800"/>
            <a:ext cx="91440" cy="18288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306324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5 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3355848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Install into an environment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12680" y="29718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12680" y="2971800"/>
            <a:ext cx="91440" cy="1828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3848" y="306324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6 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3848" y="3355848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Smoke / health checks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4983480"/>
            <a:ext cx="11338560" cy="128016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983480"/>
            <a:ext cx="109728" cy="1280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09320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When a stage fails, the pipeline stops (fail fast) — a broken build must not be deployed.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Logs show which step failed; branch protection can block merge until CI is green.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2.2  Triggers — what starts the pipeline?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Aim for feedback in minutes, not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8872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88720"/>
            <a:ext cx="91440" cy="1828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801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Push to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7276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main / develop pushes start CI/CD for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8872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91440" cy="1828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2801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Pull / Merge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57276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Run checks before code lands on main.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18872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188720"/>
            <a:ext cx="91440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2801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Tag /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57276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v1.2.0 style tags can ship a release build.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20040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200400"/>
            <a:ext cx="91440" cy="1828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2918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358444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Nightly builds catch slow or flaky issues.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20040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200400"/>
            <a:ext cx="91440" cy="18288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2918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Manual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58444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Button or approval starts a controlled deploy.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20040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200400"/>
            <a:ext cx="91440" cy="1828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32918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Webhook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358444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Another system can request a pipeline run.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212080"/>
            <a:ext cx="11338560" cy="100584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212080"/>
            <a:ext cx="109728" cy="1005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321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Exam line: “CI starts on every meaningful code change so feedback is minutes, not weeks.”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2.3  Implementation — container path (Unit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How CI/CD delivers to Kubernetes / Cloud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91440" cy="53035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527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1.  Developer commits Dockerfile + application code to Git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64792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764792"/>
            <a:ext cx="91440" cy="5303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874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2.  Pipeline checks out the repo on a clean runner / Cloud Build worker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86584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86584"/>
            <a:ext cx="91440" cy="530352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496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3.  Automated tests run (fail fast if red)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08376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008376"/>
            <a:ext cx="91440" cy="5303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1810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4.  docker build -t REGION-docker.pkg.dev/.../app:$GIT_SHA 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30168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30168"/>
            <a:ext cx="91440" cy="530352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3989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5.  Push the immutable image to Artifact Registry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5196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251960"/>
            <a:ext cx="91440" cy="53035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36168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6.  Deploy: kubectl set image / apply manifests  OR  gcloud run deploy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73752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73752"/>
            <a:ext cx="91440" cy="5303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7.  Wait for rollout / health; notify the team of success or failure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2.4  IaC path, environments &amp; pipeline-as-code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Unit 3 link + Practical 8 mindset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91440" cy="3108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3444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Infrastructure in the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27048"/>
            <a:ext cx="5257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Pull request opened → terraform plan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Plan posted as a PR comment for review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After merge + approval → terraform apply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Verify that cloud resources match Git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This keeps infrastructure changes as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safe and reviewable as application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43000"/>
            <a:ext cx="55321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91440" cy="3108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234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Environment promotion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27048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Dev → Staging → Production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Promote the SAME artifact (Git SHA)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Staging should mirror Prod shape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(scale can be smaller)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Separate GCP projects / namespaces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reduce blast radius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Prod often needs approval (Delivery)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34840"/>
            <a:ext cx="11338560" cy="178308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434840"/>
            <a:ext cx="109728" cy="17830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44568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Pipeline-as-code stores definitions next to the app: Jenkinsfile, .github/workflows/*.yml,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.gitlab-ci.yml, or cloudbuild.yaml. Benefits match IaC: versioned, reviewable, reproducible.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Practical 8 focus: implement a CI/CD pipeline with Cloud Build on GCP (repo → build → deploy).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Tools for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Jenkins, GitHub Actions, GitLab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GitHub Copilot (syllabus note)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Cloud Build for Practical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How to choose a 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3.1  Master comparison (memorise)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Hosting · pipeline file · strength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109728" cy="9601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252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Jenkins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25272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Self-hosted automation server (VM/K8s agents)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25272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Jenkinsfile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Huge plugins · you operate Jenkins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4028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240280"/>
            <a:ext cx="109728" cy="9601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50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35000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CI/CD inside GitHub (hosted runners)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35000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.github/workflows/*.yml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Excellent PR checks &amp; marketplace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33756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337560"/>
            <a:ext cx="109728" cy="9601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447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GitLab 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44728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CI built into GitLab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44728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.gitlab-ci.yml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SCM + CI + registry in one place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43484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434840"/>
            <a:ext cx="109728" cy="9601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5445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Cloud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54456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GCP serverless CI (Practical 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54456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cloudbuild.yaml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709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Native Artifact Registry / Run / GKE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57784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577840"/>
            <a:ext cx="109728" cy="685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875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Syllabus focus: Jenkins, GitHub Actions (+ Copilot), GitLab CI. Also know Cloud Build for GCP labs.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3.2  Jenkins — deeper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Self-hosted power with operational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91440" cy="3200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3444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What Jenkins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27048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Open-source automation server used widely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in enterprises for CI/CD.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You install it on a VM, VM group, 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Kubernetes; jobs run on controller/agents.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Supports Freestyle UI jobs or Pipeline-as-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code (Jenkinsfile) with many plugins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(Git, Docker, K8s, Slack, …).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43000"/>
            <a:ext cx="55321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91440" cy="32004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234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Jenkinsfile stage sketch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27048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Checkout → Test (npm test)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→ Build image → Push to registry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→ Deploy staging with kubectl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Tag images with Git commit SHA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Fail fast before any deploy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Production adds an approval step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Keep Jenkinsfile reviewed in Git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11338560" cy="169164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526280"/>
            <a:ext cx="109728" cy="16916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36008"/>
            <a:ext cx="10881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Exam line: “Jenkins is a self-hosted CI/CD server — powerful and plugin-rich, but you own the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operations of Jenkins itself (patching, plugins, agents).” A snowflake Jenkins with shared admin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passwords is an audit failure — treat the CI server like production infrastructure.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3.3  GitHub Actions + Copilot — deeper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Product vs assistant — do not confuse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91440" cy="3200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3444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27048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Workflows live in .github/workflows/*.yml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Events: push, pull_request, schedule…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Jobs run on ubuntu-latest (or self-hosted).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Vocabulary: Workflow, Job, Step, Action.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PRs run tests as a CI gate; main can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build, push, and deploy.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Secrets come from GitHub Secrets — never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hard-coded in YAML.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43000"/>
            <a:ext cx="55321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91440" cy="32004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234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GitHub Copilot (syllabus)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27048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AI pair-programmer that drafts application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code AND pipeline YAML faster.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Syllabus “Git Co-Pilot Actions” ≈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Actions product + Copilot assistance.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UNSAFE: export API_KEY=AIza… in a step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SAFE: env: API_KEY: ${{ secrets.API_KEY }}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Treat suggestions like a junior PR: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11338560" cy="169164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526280"/>
            <a:ext cx="109728" cy="16916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36008"/>
            <a:ext cx="10881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Exam wording: “GitHub Actions automates CI/CD via YAML workflows. GitHub Copilot assists developers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in authoring those workflows and application code — but humans must still review security and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correctness.” Copilot does not replace branch protection, secret scanning, or Prod approvals.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3.4  GitLab CI &amp; Cloud Build — deeper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Stages model + GCP Practical 8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91440" cy="32004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3444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GitLab 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27048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.gitlab-ci.yml at the repository root.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Clear stages: test → build → deploy.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GitLab Runners execute jobs.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environments track staging/production URLs.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Production often uses when: manual 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that is Continuous Delivery.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Promote the same image tag/digest;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do not rebuild a different Prod binary.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43000"/>
            <a:ext cx="55321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91440" cy="3200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234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Cloud Build (Practical 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27048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GCP serverless CI via cloudbuild.yaml.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Typical steps for class labs: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1) npm test (or equivalent)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2) docker build tagged with SHORT_SHA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3) docker push to Artifact Registry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4) gcloud run deploy … (or GKE update)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Trigger on push to main from connected repo.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Use a least-privilege Cloud Build SA.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11338560" cy="169164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526280"/>
            <a:ext cx="109728" cy="16916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36008"/>
            <a:ext cx="10881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Choose by ecosystem: GitHub → Actions; GitLab → GitLab CI; custom agents / heavy plugins → Jenkins;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GCP course labs / Artifact Registry / Cloud Run / GKE → Cloud Build. Many orgs mix tools, but each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pipeline should still follow the same secure stages: test, immutable artifact, controlled deploy.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3.5  Code sketches to remember in exams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Structure matters more than memorising every flag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91440" cy="36576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Jenkinsfile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pipeline { agent any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stages: Checkout, Test,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Build, Push, Deploy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post { failure … }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18872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91440" cy="36576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2801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GitHub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572768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on: push / pull_request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jobs: test-and-build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deploy-staging (needs:)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secrets via secrets.*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91440" cy="36576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2801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GitLab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572768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stages: test, build, deploy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unit-test → build-image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deploy-prod when: manual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environment: production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18872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188720"/>
            <a:ext cx="91440" cy="3657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2801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Cloud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572768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steps: test → docker build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→ push → gcloud run deploy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images: …:$SHORT_SHA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substitutions for region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29200"/>
            <a:ext cx="11338560" cy="118872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29200"/>
            <a:ext cx="109728" cy="11887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13892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In a 7-mark answer, sketch 4–6 lines of YAML/Groovy structure and explain each stage in words.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Examiners reward understanding of flow more than perfect syntax.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Testing &amp; Deployment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Why automated tests belong in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Quality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Rolling, blue-green, canary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Rollback and Delivery vs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4.1  Automated testing levels (with notes)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Tests make Continuous Integration trustworthy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91440" cy="1828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34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2704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Small functions/classes — fast, many; run on every PR.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4300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43000"/>
            <a:ext cx="91440" cy="1828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234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52704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APIs, DB, queues — medium speed; prove pieces work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14300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91440" cy="1828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234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52704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Full user journeys — slower; keep a few critical smoke paths.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10896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108960"/>
            <a:ext cx="91440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2004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349300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SAST / dependency / image scan — catch known CVEs early.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10896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108960"/>
            <a:ext cx="91440" cy="18288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2004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49300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Behaviour under traffic — often Staging / scheduled before peaks.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10896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108960"/>
            <a:ext cx="91440" cy="1828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32004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Gate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349300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If required tests fail, stop — do not push or deploy the artifact.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120640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120640"/>
            <a:ext cx="109728" cy="1143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23036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Tiny example: a unit test asserts applyDiscount(1000, 10) == 900. In CI any tool runs npm test;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failure must block docker push. Automated tests are not “extra work” — they are the quality gate.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4.2  Quality gates before merge /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Protect main and production with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91440" cy="566928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7101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Required automated tests are green on the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01368"/>
            <a:ext cx="91440" cy="566928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293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Peer review / pull request approval 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59736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59736"/>
            <a:ext cx="91440" cy="566928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87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Container image scan shows no critical vulnerabilities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18104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18104"/>
            <a:ext cx="91440" cy="5669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If infra changed: terraform plan reviewed before 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76472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76472"/>
            <a:ext cx="91440" cy="566928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Branch protection rules on main (no direct force-push)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34840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91440" cy="566928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6285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Production environment requires designated approvers (Delivery)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212080"/>
            <a:ext cx="11338560" cy="100584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212080"/>
            <a:ext cx="109728" cy="1005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21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Branch protection turns CI from “nice dashboard” into an enforced gate: main cannot advance unless checks pass.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4.3  Deployment strategies — long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Choose strategy by blast radius and rollback speed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91440" cy="33832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344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Recreate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27048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Stop old version entirely,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then start the new one.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Simple to reason about,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but users see downtime.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Avoid on peak traffic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1430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143000"/>
            <a:ext cx="91440" cy="33832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2344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Rolling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527048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Replace instances/Pods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gradually; Service keeps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sending to Ready backends.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Low downtime; versions mix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briefly. K8s default style.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430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143000"/>
            <a:ext cx="91440" cy="33832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2344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Blue-Green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527048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Two full environments;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switch LB/DNS when green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is healthy. Rollback = switch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back. Costs ~2× capacity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while both are hot.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1430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143000"/>
            <a:ext cx="91440" cy="33832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2344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Canary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527048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Send a small % of traffic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to the new version first.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Expand if metrics look good.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Needs good monitoring.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Limits blast radius.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709160"/>
            <a:ext cx="109728" cy="15544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818888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Also know feature flags: deploy code “dark,” then enable the feature later per user segment.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That separates deploy (technical) from release (business). Pair with Unit 4 rolling updates and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kubectl rollout undo for fast Kubernetes rollback when a canary or rolling release goes bad.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4.4  Rollback, zero-downtime &amp; Delivery vs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Practise rollback — do not invent it during an outage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91440" cy="31089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3444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Rollback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27048"/>
            <a:ext cx="5257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Redeploy the previous immutable image tag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kubectl rollout undo / previous MIG template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Blue-Green: point traffic back to blue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Canary: set new version weight to 0%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Feature flag: disable feature without redeploy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CI/CD should make rollback a practised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43000"/>
            <a:ext cx="55321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91440" cy="3108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234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Zero-downtime ideas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27048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Keep a minimum of healthy instances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Readiness/health checks before traffic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Tune maxSurge / maxUnavailable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Prefer backward-compatible DB migrations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Smoke-test critical URLs after deploy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Watch error rate and latency dashboards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34840"/>
            <a:ext cx="11338560" cy="178308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434840"/>
            <a:ext cx="109728" cy="17830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44568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Practice choice: payments / result grades → Continuous Delivery with approvers and often canary.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Internal tools with strong automated tests and fast rollback → Continuous Deployment can fit.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Deploy is not “done” at kubectl apply — verify and monitor, then declare success.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Secure &amp; Scalable 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Protect the pipeline itself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Keep pipelines fast as teams grow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Make releases boring and 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Anti-patterns and checklist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5.1  Security — protect the pipeline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If attackers control CI, they can deploy malware as “a release”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91440" cy="1828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34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Secrets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2704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Use Secret Manager / CI secret stores. Never commit tokens or API keys to Git.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4300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43000"/>
            <a:ext cx="91440" cy="1828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234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Least privilege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52704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Cloud Build / runner service accounts deploy only what they must.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14300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91440" cy="1828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234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Short-lived creds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52704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Prefer Workload Identity / OIDC over long-lived JSON keys.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10896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108960"/>
            <a:ext cx="91440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2004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Protect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349300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Limit who can edit Prod workflow files on protected branches.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10896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108960"/>
            <a:ext cx="91440" cy="18288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2004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Supply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49300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Review third-party Actions, Jenkins plugins, and base images.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10896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108960"/>
            <a:ext cx="91440" cy="1828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32004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Scan &amp; separate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349300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Block critical CVEs; keep Dev/Staging/Prod credentials separate.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120640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120640"/>
            <a:ext cx="109728" cy="1143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23036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The pipeline often holds credentials that can change production. Treat CI/CD as production-critical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infrastructure: patch it, code it, audit who deployed what and when.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5.2  Scalability &amp; reliability — deeper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Slow CI trains developers to skip CI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91440" cy="32004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23444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Make pipelines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527048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Parallelise independent jobs (lint || unit || security)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Cache dependencies and Docker layers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Run cheapest tests first (fail fast)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Split huge monolith pipelines by module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Autoscale builders (Cloud Build serverless;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K8s agents; runner pools)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Track lead time commit → production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43000"/>
            <a:ext cx="55321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91440" cy="3200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234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Make releases boring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27048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Immutable tags with Git SHA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Never rely on overwritten :latest in Prod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Automated rollback on failed health checks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Idempotent deploy scripts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Pipeline-as-code reviewed like app code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Staging that resembles production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IaC for environment parity (Unit 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11338560" cy="169164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526280"/>
            <a:ext cx="109728" cy="16916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36008"/>
            <a:ext cx="10881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DORA-style metrics (viva / future scope): deployment frequency, lead time for changes,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change failure rate, and MTTR after a bad deploy. Improving the pipeline is how DevOps teams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measure progress — not by buying another tool alone.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5.3  Anti-patterns to avoid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Write these as “Avoid …” in long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91440" cy="566928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7101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Clicking Deploy from a laptop with uncommitted local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1368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01368"/>
            <a:ext cx="91440" cy="566928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293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Building different artifacts for Staging and 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59736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59736"/>
            <a:ext cx="91440" cy="566928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87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Storing long-lived admin cloud keys in plain YAML committed to Git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18104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18104"/>
            <a:ext cx="91440" cy="566928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Using only :latest tags for production workloads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76472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76472"/>
            <a:ext cx="91440" cy="566928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Skipping tests “just this once” on the main branch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34840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91440" cy="566928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6285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One fragile Jenkins server that nobody can rebuild from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212080"/>
            <a:ext cx="11338560" cy="1005840"/>
          </a:xfrm>
          <a:prstGeom prst="roundRect">
            <a:avLst>
              <a:gd name="adj" fmla="val 8000"/>
            </a:avLst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212080"/>
            <a:ext cx="109728" cy="1005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21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DA5A0"/>
                </a:solidFill>
                <a:latin typeface="Calibri"/>
              </a:rPr>
              <a:t>TEACHING NOTE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Anti-patterns create drift, secret leaks, and unrecoverable CI. Opposite habits are checklist items on the next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5.4  Secure + scalable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Use as a pre-release teaching handout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Secrets are not in Git — injected from a secret store at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01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Deploy identity is least-privilege for one app / namespace /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5973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Pull requests + green CI are required before merging to 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1810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Tests and image scans gate production promotion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76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The same immutable artifact is promoted across environments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Rollback has been practised; Prod uses approval if Continuous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932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Caches / parallel jobs keep feedback fast; monitoring watches the release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Real-life examples for 7-mark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Quote context → approach with a named tool → teaching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Cases A — Portal · Food delivery · 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Longer storylines for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109728" cy="15544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5272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Campus result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Previously SSH/FTP on result night. Now Actions/Cloud Build: test → image → staging smoke → approve Prod → rollback previous tag if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94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stressful manual release becomes a repeatable, auditable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83464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834640"/>
            <a:ext cx="109728" cy="15544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4436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Food delivery microservices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7355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Per-service pipelines so catalogue is not blocked by payments. Canary on checkout; feature flags for UI experiments; stronger gates on money paths.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microservices need independent CI/CD with risk-based controls.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52628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526280"/>
            <a:ext cx="109728" cy="15544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3600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UPI / payments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65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Continuous Delivery with two-person Prod approval, contract tests, canary, auto-rollback on 5xx spike, secrets only in Secret Manager.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choose Delivery vs Deployment by risk — not by fashion.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Cases B — Jenkins · Copilot · Festival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Security and performance angles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109728" cy="1554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5272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Jenkins sprawl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Unpatched Jenkins with shared admin and plaintext cloud keys. Convert to Jenkinsfile in Git, ephemeral agents, secret store; migrate simple apps to Actions/GitLab/Cloud Build.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94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the CI server is production infrastructure — secure and rebuild it like Prod.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83464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834640"/>
            <a:ext cx="109728" cy="15544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4436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Copilot hard-coded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7355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AI-drafted workflow committed an API key. PR review blocked merge; moved to secrets.API_KEY; enabled secret scanning; team rule: Copilot drafts, humans own security.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Copilot accelerates Actions authoring; it does not replace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52628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526280"/>
            <a:ext cx="109728" cy="15544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3600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Festival sale load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65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Unit tests passed but Staging load showed p95 latency triple. Pipeline blocks Prod promote if SLO broken; blue-green ready; feature flag can disable UI without full redeploy.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automated testing includes performance before peak events.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Exam Rapid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Must-say lines — expand each into a short paragraph in the booklet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" cy="12801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430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DevOps = culture + automation; CI/CD is the automation backbone of DevOps delivery.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128016" cy="128016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288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CI ≠ Continuous Delivery ≠ Continuous Deployment — define each with an example.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128016" cy="12801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Pipeline: Source → Build → Test → Artifact → Deploy → Verify → Monitor (fail fast).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28016" cy="128016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004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Jenkins = self-hosted; Actions = GitHub YAML; GitLab = stages file; Cloud Build = GCP lab CI.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40"/>
            <a:ext cx="128016" cy="12801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Copilot helps write YAML — never commit secrets; review like a junior contributor’s PR.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28016" cy="128016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Strategies: Rolling · Blue-Green · Canary · Feature flags · practised rollback.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49240"/>
            <a:ext cx="128016" cy="12801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Secure: least privilege · secret managers · immutable SHA tags · Prod approvals · audit logs.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Deliver change continuously — and safely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109728" cy="822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52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Automate the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Humans review intent; machines build, test, and deploy the same way every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0312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109728" cy="822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128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Name CD correctly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14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Delivery keeps an approval gate; Deployment ships every green build to Prod.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6324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109728" cy="8229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72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Same 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74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Promote Git-SHA images across envs — do not rebuild a special Prod binary.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109728" cy="822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3308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Choose strategy by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Canary + Delivery for payments; faster paths where blast radius is low.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8348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983480"/>
            <a:ext cx="109728" cy="82296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9320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Secure the factory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Pipeline credentials are production-critical — protect secrets and who can edit workflows.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9BE0"/>
                </a:solidFill>
                <a:latin typeface="Calibri"/>
              </a:rPr>
              <a:t>Questions · Sketch a pipeline · Argue Delivery vs Deployment for one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Unit V — Introduction to CI/CD  ·  Expanded teaching-note edition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Pair with: notes/unit-5/CC-II-Unit-V-Introduction-to-CI-CD.txt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Lab: Practical 8 — CI/CD Pipeline with Cloud Build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FIT &amp; CS, Parul University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Extra lecture notes — Core CI/CD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Use while teaching Topics 1–2  ·  expand each bullet into a spoken paragraph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91440" cy="594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1. Git is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Every change that matters starts as a commit or merge request — not a laptop-only hotfix.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19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91440" cy="5943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39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2. Automate commit →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67127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Clean agents build the same way every time so “works on my machine” disappears.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6032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91440" cy="5943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060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3. Shift-left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529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Unit/integration/security tests run early; broken builds never reach users.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4612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46120"/>
            <a:ext cx="91440" cy="5943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4. Immutable artifacts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38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Tag with Git SHA; promote the same image Dev → Staging → Prod.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91440" cy="59436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776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5. Limit blast radius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245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Rolling/canary/blue-green + feature flags keep bad releases small and reversible.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1772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617720"/>
            <a:ext cx="91440" cy="594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6. Secure the factory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103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Secrets, least privilege, and protected workflows — CI can deploy malware if stolen.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0352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303520"/>
            <a:ext cx="91440" cy="5943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3492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7. Observe &amp; roll 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961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Deploy is unfinished until smoke checks and dashboards look healthy; rollback is practised.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V  ·  Introduction to CI/CD  ·  Parul University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