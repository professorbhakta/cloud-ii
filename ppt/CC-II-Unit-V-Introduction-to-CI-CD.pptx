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A5A0"/>
                </a:solidFill>
                <a:latin typeface="Calibri"/>
              </a:rPr>
              <a:t>CLOUD COMPUTING – II  ·  UNIT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Introduction to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Classroom deck  ·  ~37 slides  ·  Syllabus with subtopics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DevOps · Pipelines · Jenkins / Actions / GitLab · Test &amp; Deploy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Secure practices  ·  Cases  ·  Exam 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FIT &amp; CS  ·  Parul University  ·  Weightage 15%  ·  7 hours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By the end of Unit V you should be able to…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14173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Define DevOps &amp; CI/CD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CI vs Continuous Delivery vs Continuous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80160"/>
            <a:ext cx="91440" cy="14173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3898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Draw a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7373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Source → Build → Test → Artifact → Deploy → Verify.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80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880360"/>
            <a:ext cx="91440" cy="141732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9900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Compare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33375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Jenkins, Actions (+ Copilot), GitLab CI, Cloud Build.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880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880360"/>
            <a:ext cx="91440" cy="14173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29900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Choose deploy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33375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Rolling, blue-green, canary — and rollback.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480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480560"/>
            <a:ext cx="91440" cy="14173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5902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Secure the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" y="49377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Secrets, least privilege, immutable artifacts.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480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480560"/>
            <a:ext cx="91440" cy="14173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45902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Link Units 3–4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49377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IaC plan/apply and GKE/Cloud Run via CI/CD.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Unit V Syllabus —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Five topics  ·  Practical 8: Cloud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822960" cy="7772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63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4630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Understanding DevOps and CI/CD Concepts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488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822960" cy="7772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3774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3774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CI/CD Pipelines: Overview &amp; Implementation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632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822960" cy="7772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2918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2918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Tools — Jenkins, GitHub Actions (+ Copilot), GitLab CI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77639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77639"/>
            <a:ext cx="822960" cy="7772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20623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206239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Automated Testing &amp; Deployment Strategies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920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92040"/>
            <a:ext cx="822960" cy="7772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120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51206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Best Practices for Secure &amp; Scalable CI/CD Pipelines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DevOps and CI/CD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Manual release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DevOps culture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CI vs Delivery vs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Artifacts &amp; course 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1.1  What problem does CI/CD solve?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Big-bang releases are slow and risky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Traditional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Develop for months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Huge merge → manual test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Weekend release → hope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Hotfix under stress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Bugs found late · fear of deploy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Dev vs Ops blame games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CI/CD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Small frequent commits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Automated build + test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Repeatable deploy scripts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Fast rollback if needed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Early feedback · audit trail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Shared ownership of release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1.2  What is DevOps?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Culture + automation — not only a 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Definition (write this)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DevOps combines Development and Operations to deliver software faster and more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reliably through collaboration, automation, measurement, and continuous improvement.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91440" cy="26517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3101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Shared ownership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65760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Path to production is a team 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20040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3200400"/>
            <a:ext cx="91440" cy="26517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33101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Automate toil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65760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Build, test, deploy, infra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20040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200400"/>
            <a:ext cx="91440" cy="26517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33101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Fast 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365760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Monitor &amp; learn from incidents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320040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89720" y="3200400"/>
            <a:ext cx="91440" cy="26517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0888" y="33101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Small changes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0888" y="365760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Safer than giant risky releases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1.3  CI vs Continuous Delivery vs Continuous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Do not mix these three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37033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Continuous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Merge code frequently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Each merge → build + test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Catch bugs early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Example: npm test 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every pull request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34440"/>
            <a:ext cx="37033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Continuous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6916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Always deployable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Prod usually needs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human approval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Common for payments,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grades, healthcare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3444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34440"/>
            <a:ext cx="91440" cy="46634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4416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Continuous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691640"/>
            <a:ext cx="3246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Every green build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auto-deploys to Prod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 approval gate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Needs high trust +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excellent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1.4  Manual vs CI/CD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Audit trail and reproducibility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7784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45720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Manual 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Build on a laptop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“Works on my machine”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Tests optional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SSH / copy by hand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Hard to audit who deployed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Weekend big-bang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5321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4572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89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CI/CD release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73736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Clean build 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Same steps every commit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Tests gate the merge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Scripted Cloud Run / GKE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Git + pipeline logs =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Small frequent releases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1.5  Why Unit V matters +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Course arc and immutable outputs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1945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Units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Design well · recover from failure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1945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Units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IaC creates infra · K8s runs containers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1945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Unit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Automate build → test → deploy into those platforms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749039"/>
            <a:ext cx="113385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91440" cy="21945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858767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Artifact (immutable)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206239"/>
            <a:ext cx="11018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Versioned build output — e.g. hello-app:&lt;git-sha&gt; in Artifact Registry.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Promote the SAME tested artifact Dev → Staging → Prod — do not rebuild differently for Prod.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CI/CD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Stages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Container &amp; IaC paths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Pipeline-as-code · Practical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2.1  Pipeline stages to memorise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Automated path from commit to release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1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git push / PR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monitor errors &amp; 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2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compile / docker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monitor errors &amp;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3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unit + integration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monitor errors &amp; latency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4 Artifact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registry / store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monitor errors &amp; latency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91440" cy="21488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5 Deploy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GKE / Cloud Run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monitor errors &amp; latency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5047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6 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health / smoke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monitor errors &amp; latency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2.2  Triggers — what starts the pipeline?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Feedback in minutes, not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Push to 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main / develop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Pull / Merge request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CI before merge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Tag / 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v1.2.0 style ships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Schedule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Nightly builds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91440" cy="21488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Manual run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Button /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5047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Webhook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External systems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2.3  Container path (Unit 4 link)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Image → Registry → Rolling update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109728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990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1.  Commit Dockerfile + app to 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1168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109728" cy="6400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1762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2.  Pipeline checks out · runs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8892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5351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3.  docker build -t …:$GIT_SHA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6616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109728" cy="6400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307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4.  Push to Artifact Registry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4340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43400"/>
            <a:ext cx="109728" cy="64008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0799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5.  kubectl set image / apply manifests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20640"/>
            <a:ext cx="109728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852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6.  rollout status · smoke /health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2.4  IaC path, environments &amp; pipeline-as-code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Unit 3 + Practical 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32004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IaC in the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 → terraform plan (PR comment)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Merge → apply after approval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Verify resources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Git = source of truth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32004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Promote environments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Dev → Staging → Production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Same artifact across envs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Staging mirrors Prod shape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Separate projects / namespaces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Prod may need approval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663440"/>
            <a:ext cx="11338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663440"/>
            <a:ext cx="91440" cy="13716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4773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Pipeline-as-code · Practical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120640"/>
            <a:ext cx="11018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Jenkinsfile · .github/workflows/*.yml · .gitlab-ci.yml · cloudbuild.yaml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Practical 8: implement CI/CD with Cloud Build on GCP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Tools for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Jenkins · Actions · GitLab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Copilot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Cloud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Choosing a tool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3.1  Master comparison (memorise)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Hosting · file · strength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10515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Jenkins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3716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Self-hosted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3716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A5A0"/>
                </a:solidFill>
                <a:latin typeface="Calibri"/>
              </a:rPr>
              <a:t>Jenkinsfile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5544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6B7C"/>
                </a:solidFill>
                <a:latin typeface="Calibri"/>
              </a:rPr>
              <a:t>Plugins · you operate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423160"/>
            <a:ext cx="113385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423160"/>
            <a:ext cx="109728" cy="10515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GitHub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5603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GitHub-hosted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A5A0"/>
                </a:solidFill>
                <a:latin typeface="Calibri"/>
              </a:rPr>
              <a:t>.github/workflows/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743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6B7C"/>
                </a:solidFill>
                <a:latin typeface="Calibri"/>
              </a:rPr>
              <a:t>Tight PR integration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11880"/>
            <a:ext cx="113385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11880"/>
            <a:ext cx="109728" cy="10515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49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GitLab CI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37490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Built into GitLab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7490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A5A0"/>
                </a:solidFill>
                <a:latin typeface="Calibri"/>
              </a:rPr>
              <a:t>.gitlab-ci.yml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931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6B7C"/>
                </a:solidFill>
                <a:latin typeface="Calibri"/>
              </a:rPr>
              <a:t>SCM + CI together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4800600"/>
            <a:ext cx="113385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4800600"/>
            <a:ext cx="109728" cy="10515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937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Cloud 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9377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GCP serverless 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9377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A5A0"/>
                </a:solidFill>
                <a:latin typeface="Calibri"/>
              </a:rPr>
              <a:t>cloudbuild.yaml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6B7C"/>
                </a:solidFill>
                <a:latin typeface="Calibri"/>
              </a:rPr>
              <a:t>Native GCP · Practical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3.2  Jenkins — self-hosted powerhouse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Pipeline-as-code with Jenkinsfile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What to remember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Open-source automation server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VM / agents / K8s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Freestyle or Jenkinsfile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Huge plugin ecosystem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Pros: flexible, mature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Cons: YOU patch &amp; operate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Exam: powerful but ops-heavy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Jenkinsfile stages (sketch)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Checkout → Test (npm test)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→ Build image → Push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→ Deploy staging (kubectl)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Tag image with Git commit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Fail fast before deploy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Prod = add approval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Keep Jenkinsfile in Git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3.3  GitHub Actions +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YAML workflows · AI drafts · humans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GitHub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File: .github/workflows/*.yml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Events: push, pull_request…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Jobs on ubuntu-latest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PR: run tests (CI gate)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main: build/push/deploy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Secrets via GitHub Secrets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environment: staging/prod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GitHub Copilot (syllabus)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AI pair-programmer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Drafts app code + workflow YAML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UNSAFE: hard-coded API keys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SAFE: secrets.API_KEY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Actions = product; Copilot =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assistant — review security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3.4  GitLab CI &amp; Cloud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Stages model + GCP Practical 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GitLab 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.gitlab-ci.yml at repo root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stages: test → build → deploy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Runners execute jobs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production: when: manual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(Continuous Delivery)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Same image tag promoted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Environments with URLs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Cloud Build (Practical 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cloudbuild.yaml steps: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1) npm test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2) docker build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3) push Artifact Registry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4) gcloud run deploy 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Trigger: push to main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Least-privilege build SA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3.5  Code sketches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Write structure — not every flag — in exams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27889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91440" cy="45720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Jenkinsfile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37360"/>
            <a:ext cx="2468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stages { Checkout, Test,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Build, Push, Deploy }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post { failure … 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7889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80160"/>
            <a:ext cx="91440" cy="4572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37360"/>
            <a:ext cx="2468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on: push / pull_request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jobs: test-and-build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deploy-staging (needs)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27889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91440" cy="45720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GitLab 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1737360"/>
            <a:ext cx="2468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stages: test, build, deploy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deploy-prod when: manual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environment: production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280160"/>
            <a:ext cx="27889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280160"/>
            <a:ext cx="91440" cy="4572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Cloud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737360"/>
            <a:ext cx="2468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steps: test → docker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→ push → gcloud run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images: …:$SHORT_SHA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3.6  When to choose which tool?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Match tool to where your code lives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Already on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GitHub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Already on GitLab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GitLab CI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Custom enterprise agents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Jenkins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GCP class / GKE / 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Build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91440" cy="21488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Need AI draft help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Copilot + human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5047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Multi-cloud portable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Often Jenkins or Actions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Testing &amp; Deployment Strategies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Test pyramid &amp; gates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Rolling · Blue-Green · Canary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Rollback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Delivery vs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4.1  Automated testing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Tests are the quality gate for CI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Functions/classes — fast, many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APIs, DB, queues — medium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End-to-end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Full user journeys — slower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SAST / dependency scan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91440" cy="21488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Behaviour under traffic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5047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Gate rule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Fail build before push/deploy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4.2  Quality gates before merge /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Protect main and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109728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990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Required automated tests green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1168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109728" cy="6400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1762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PR peer review 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8892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5351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Container image: no critical CVEs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6616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109728" cy="6400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307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terraform plan reviewed (if IaC)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4340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43400"/>
            <a:ext cx="109728" cy="64008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0799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Branch protection on main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20640"/>
            <a:ext cx="109728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852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Prod environment approvers (Delivery)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4.3  Deployment strategies (exam table)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Limit blast radius of every release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91440" cy="36576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Recreate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373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Stop all → start new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Simple · downtime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80160"/>
            <a:ext cx="91440" cy="36576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Rolling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373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Replace gradually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Low downtime · Unit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91440" cy="36576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Blue-Green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17373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Two envs · switch traffic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Fast rollback · 2×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28016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280160"/>
            <a:ext cx="91440" cy="36576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Canary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7373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Small % to new version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Needs metrics · safer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212080"/>
            <a:ext cx="11338560" cy="45720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285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86A4C"/>
                </a:solidFill>
                <a:latin typeface="Calibri"/>
              </a:rPr>
              <a:t>Also: Feature flags — deploy code dark; enable feature later per segment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4.4  Rollback, zero-downtime &amp; Delivery vs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Practise rollback — do not improvise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301752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Rollback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Redeploy previous image tag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rollout undo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Blue-Green: switch back to blue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Canary: set new weight to 0%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Feature flag: turn feature off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30175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Zero-downtime ideas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Keep min healthy instances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Readiness / health checks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maxSurge / maxUnavailable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Backward-compatible DB changes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Verify after deploy (smoke)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1133856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480560"/>
            <a:ext cx="91440" cy="1554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459028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Practice choice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937760"/>
            <a:ext cx="11018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Payments / grades → Continuous Delivery (approval).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Internal tools with strong tests → Continuous Deployment can fit.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Secure &amp; Scalable Best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Secure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Keep CI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Make releases boring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Anti-patterns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5.1  Security — protect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Pipeline credentials can deploy malware if stolen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Secrets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Secret Manager / CI secrets — never Git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Least privilege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Deploy SA only what it needs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Short-lived creds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Workload Identity where possible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Protect workflows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Who can edit Prod pipelines?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91440" cy="21488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Supply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Review Actions / plugins / images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5047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Scan &amp; separate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Image scan · Dev≠Prod credentials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5.2  Scalability &amp; 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Slow CI encourages skipping CI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Make pipelines fast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Parallelise lint || unit || security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Cache npm / Docker layers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Fail cheap tests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Split monolith pipelines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Autoscale builders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(Cloud Build is serverless)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Make releases boring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Immutable tags (Git SHA)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Never overwrite :latest for Prod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Auto-rollback on bad health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Pipeline-as-code in Git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Staging resembles production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IaC for environment parity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5.3  Anti-patterns to avoid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Write these as Avoid… in exams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5331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Deploy from laptop with uncommitted changes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96596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96596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1305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Different artifacts for Staging vs Prod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4320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0779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Long-lived admin keys in YAML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39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39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85031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Prod on :latest 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29768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29768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622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Skipping tests “just this once” on main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07492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3951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One fragile Jenkins nobody can rebuild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5.4  Secure + scalable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Printable habits before go-live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[  ]  Secrets not in Git · least-privilege deploy 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[  ]  PR + green CI required on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[  ]  Tests gate deploy · image scan before Prod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[  ]  Same artifact promoted across environments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[  ]  Rollback practised · Prod approval if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C2B3A"/>
                </a:solidFill>
                <a:latin typeface="Calibri"/>
              </a:rPr>
              <a:t>[  ]  Caches / parallel jobs for speed · monitoring after release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4A017"/>
                </a:solidFill>
                <a:latin typeface="Calibri"/>
              </a:rPr>
              <a:t>CASE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Real-life examples for 7-mark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Quote: context → approach (tool) → teaching 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Cases A — Portal · Food delivery · Payments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Use in viva / long answers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14630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Campus result 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737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Actions/Cloud Build → staging → approve Prod → rollback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94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Manual SSH → repeatable pipeline.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88036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880360"/>
            <a:ext cx="109728" cy="14630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Food delivery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83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Per-service pipelines · canary checkout · feature flags.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Independent CI/CD; stronger gates on money paths.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52628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526280"/>
            <a:ext cx="109728" cy="14630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UPI / payments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Continuous Delivery + approvers · canary · Secret Manager.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Delivery vs Deployment by risk — not hype.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Cases B — Jenkins · Copilot · Festival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Security &amp; performance angles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14630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Jenkins sprawl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737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Jenkinsfile in Git · secret store · migrate standard apps.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94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CI server is Prod infrastructure.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88036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880360"/>
            <a:ext cx="109728" cy="14630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Copilot hard-coded 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83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PR blocks merge · secrets.API_KEY · secret scanning.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Copilot drafts; humans own security.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52628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526280"/>
            <a:ext cx="109728" cy="14630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Festival sale load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Staging load test · block Prod if p95 &gt; SLO · blue-green ready.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Unit tests alone are not enough before peaks.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Exam Rapid Revision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Must-say lines for Unit V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188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DevOps = culture + automation; CI/CD is the automation backbone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65959"/>
            <a:ext cx="146304" cy="14630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874519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CI ≠ Continuous Delivery ≠ Continuous Deployment — define 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603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Pipeline: Source → Build → Test → Artifact → Deploy → Verify → Monitor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46304" cy="14630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461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Jenkins self-hosted · Actions GitHub YAML · GitLab stages · Cloud Build GCP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319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Copilot helps write YAML — never commit secrets; review like a junior PR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09160"/>
            <a:ext cx="146304" cy="14630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Strategies: Rolling · Blue-Green · Canary · Feature flags · practised rollback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949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035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Secure: least privilege · secrets managers · immutable SHA tags · Prod approvals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Deliver change continuously — and safely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V  ·  Introduction to CI/CD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9728" cy="8229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984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Automate the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Humans review; machines build, test, and deploy.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4884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109728" cy="8229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25856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Name CD correctly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560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Delivery needs approval; Deployment is automatic.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10896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108960"/>
            <a:ext cx="109728" cy="8229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1868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Same artifact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520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Promote Git-SHA images — do not rebuild for Prod.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6908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109728" cy="8229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788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Choose strategy by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Canary/Delivery for payments; speed where safe.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029200"/>
            <a:ext cx="109728" cy="82296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389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Secure the factory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Pipeline credentials are production-critical.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3D9BE0"/>
                </a:solidFill>
                <a:latin typeface="Calibri"/>
              </a:rPr>
              <a:t>Questions · Sketch a pipeline · Pick Delivery or Deployment for a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Unit V — Introduction to CI/CD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Pair with: notes/unit-5/CC-II-Unit-V-Introduction-to-CI-CD.txt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Lab: Practical 8 — CI/CD Pipeline with Cloud Build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FIT &amp; CS, Parul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