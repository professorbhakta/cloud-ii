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DA5A0"/>
                </a:solidFill>
                <a:latin typeface="Calibri"/>
              </a:rPr>
              <a:t>CLOUD COMPUTING – II  ·  UNIT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Disaster Recovery</a:t>
            </a:r>
          </a:p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in the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Complete classroom deck  ·  Syllabus topics with subtopics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Backup &amp; DR  ·  HA &amp; Fault Tolerance  ·  RPO/RTO Strategies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Cloud Backups &amp; Snapshots  ·  Case Studies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  ·  Parul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By the end of Unit II you should be able to…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109728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Define Backup, Disaster, DR, Business Continuity, Failover, and Failback accurately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109728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219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Explain Full / Incremental / Snapshot backups and Backup vs Replication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39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39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9231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Differentiate High Availability, Fault Tolerance, Redundancy, and SPOF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79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11879"/>
            <a:ext cx="109728" cy="6400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76471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Calculate thinking for RTO &amp; RPO and choose a DR strategy tier that fits them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09728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537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Map GCP tools (snapshots, GCS versioning, Cloud SQL PITR) to recovery playbooks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09728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309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Analyse case studies (lab + industry) and recommend an appropriate DR/HA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Unit II Syllabus —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Six syllabus topics  ·  each expanded with subtopics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01  Disaster Recovery in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Intro · types of disasters · cloud DR advantage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033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02  Backup &amp; DR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Definitions · backup types · replication · 3-2-1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37033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03  HA &amp; Fault Tolerance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103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HA · FT · SPOF · patterns · uptime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66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04  DR Strategies · RPO &amp; RTO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Metrics · ladder · each strategy deep dive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66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66160"/>
            <a:ext cx="37033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675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05  Cloud Backups &amp; Snapshots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389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GCE · GCS · Cloud SQL · GKE · practices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56616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566160"/>
            <a:ext cx="37033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3675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06  Case Studies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3891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Lab + industry DR implementations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Disaster Recovery in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What DR means in a cloud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What counts as a disaster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Unit II matters after Unit I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Cloud advantages and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Shared responsibility for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1.1  What is Disaster Recovery in Cloud?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Policies + people + technology to restore operations after a disaster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Disaster Recovery (DR) is the organised capability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 restore IT services after an event that makes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systems unavailable or data unusable.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It includes: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Documented policies &amp; runbooks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Assigned people / roles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Technical tools (backups, replicas, failover)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Regular practice (game days / restore tests)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On-prem vs Cloud 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Traditional on-prem: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Second physical datacenter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Tape trucks / slow rebuilds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Large idle hardware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DR: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Spare capacity on demand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Snapshots &amp; managed DB PITR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Global load balancing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Rebuild via Infrastructure as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1.2  What Counts as a “Disaster”?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Not only earthquakes — many day-to-day failures are DR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37033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441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Zone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Power, cooling, or network in one datacenter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441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Region 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574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Broader geographic impact across a cloud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37033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3441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Cyberattack / ransomware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0574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Data encrypted or destroyed; access denied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37033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Accidental delete / bad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Human or pipeline change corrupts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66160"/>
            <a:ext cx="37033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6758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Natural disaster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389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Flood, fire, earthquake near a facility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56616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36758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Dependency cascade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389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DNS, identity, payment gateway, or SaaS dependency fails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1.3  Why Unit II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Unit I connects resources — Unit II asks what happens when they fail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2B3A"/>
                </a:solidFill>
                <a:latin typeface="Calibri"/>
              </a:rPr>
              <a:t>1.  What happens when those networked resources fail?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2B3A"/>
                </a:solidFill>
                <a:latin typeface="Calibri"/>
              </a:rPr>
              <a:t>2.  How much downtime is acceptable to the business? (RTO)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2B3A"/>
                </a:solidFill>
                <a:latin typeface="Calibri"/>
              </a:rPr>
              <a:t>3.  How much data can we afford to lose? (RPO)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3191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2B3A"/>
                </a:solidFill>
                <a:latin typeface="Calibri"/>
              </a:rPr>
              <a:t>4.  Which cloud tools restore service within those limits?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2B3A"/>
                </a:solidFill>
                <a:latin typeface="Calibri"/>
              </a:rPr>
              <a:t>5.  Who declares a disaster — and who executes failover?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1.4  Cloud Advantages &amp; Limits for 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Cloud helps — it does not replace a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976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On-demand capacity in another zone/region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Managed snapshots and database PITR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Global load balancers for geo failover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Pay only for the warm/hot tier you need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IaC can rebuild stacks quickly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Easier to run restore drills than tape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976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Limits / caveats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Cloud ≠ automatic DR for your app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Shared responsibility still applies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Same-region backups can fail together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Untested restores can miss RTO badly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Misconfigured IAM can wipe backups too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Cost rises sharply for near-zero RTO/RPO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1.5  Shared Responsibility for Disaster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Who owns what when systems fail?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3017520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Always yours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554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App code · data classification · backup policy · IAM · restore testing · runbooks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3017520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Provider (typical)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697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Physical security · underlying hardware · zonal/regional infrastructure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3017520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Shared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 choose multi-zone/region patterns; provider supplies the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3017520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Exam reminder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983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“We use Google Cloud” is NOT a DR strategy by itself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Concepts of Backup &amp;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Core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Backup ≠ DR ≠ Business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Backup types: Full · Incremental · Differential ·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Backup vs Replication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3-2-1 rule and backup 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2.1  Core Definitions (Part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Terms you must not confuse in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3200400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 copy of data kept so it can be restored after loss, corruption, or deletion.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3200400" cy="1005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Disaster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51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An event that makes systems unavailable or data unusable.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3200400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94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Policies and procedures to restore IT operations after a disaster.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3200400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Business Continuity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937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Keeping critical business services running — broader than IT restore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2.2  Core Definitions (Part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Restore · Failover · Failback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976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3383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Bringing data/systems 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from a backup or replica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into a usable state.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Example: create a VM disk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from a GCE snapshot, then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boot and validate the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91440" cy="42976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3383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Switching users from 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failed primary site/system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 a secondary site/system.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Example: global LB stops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sending traffic to a dead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 and uses the healthy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34440"/>
            <a:ext cx="91440" cy="42976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441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Failback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9164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Returning operations to the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primary site after it 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repaired and verified.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Often harder than failover 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data sync and cutover timing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must be careful.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2.3  Backup ≠ Disaster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 zip file is not a recovery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Only backups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still need people, runbooks, spare/rebuildable infra, and a decision of WHEN to fail 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585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Untested restores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Backups that never restore successfully are false comfort — practice game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Same-region copies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 region outage can wipe primary AND local backups. Geographic separation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 RTO/RPO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numbers you either overspend on gold-plated DR or underserve a critical app.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38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 owner / 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Technology without “who declares disaster” delays every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2.4  Backup Types — Full · Incremental · Differential ·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Trade space, time to back up, and restore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278892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Entire dataset every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Simple restore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Slow + expensive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Often weekly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88920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Incremental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Changes since last 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432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Fast &amp; cheap to take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Restore = full + chain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Common daily schedule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234440"/>
            <a:ext cx="2788920" cy="594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Differential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Changes since last full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Restore = full + last diff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Middle ground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Know for exams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234440"/>
            <a:ext cx="2788920" cy="594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Point-in-time disk/image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432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Near-instant capture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Ideal for VMs / disks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GCE snapshots &amp; PVs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2.5  Backup vs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Different tools for different recovery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291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Point-in-time copies, usually scheduled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Restore is an explicit 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Helps roll BACK after corruption / ransomware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Example: nightly Cloud SQL backup + PITR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3291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Ongoing copy to another 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Sync → near-zero RPO, higher cost/latency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Async → small lag possible, better for distance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Helps fail OVER to a healthy twin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0060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73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Replicas can copy corruption. Backups/PITR let you go back in time. Mature designs often use BOTH.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Exam tip: failover to a replica ≠ undo a bad DELETE. Say which problem you are solving.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2.6  Where Backups Live &amp; the 3-2-1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Placement decides whether backups survive the same disaster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Placement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zone as primary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→ helps VM failure; NOT zone outage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region, other zone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→ helps zone failure; NOT region outage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Cross / dual / multi-region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→ survives regional outage better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Offline / immutable copies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→ stronger against ransomware wipeouts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3-2-1 rule (widely taught)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Keep at least: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3 copies of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 2 different media /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with 1 copy off-site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mapping: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primary + snapshot/versioning +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another region (or vaulted copy)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Exact policy varies — exam idea 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redundancy + geographic separation.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High Availability &amp; Fault 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HA and FT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Uptime percentages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Redundancy &amp; SPOF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HA patterns (instance → region)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HA vs DR — clear exam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3.1  High Availability (HA)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Keep the service reachable by reducing downtime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 &amp;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High Availability designs keep the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reachable for users through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redundancy and automatic failover.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Goal: minimise downtime users feel.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Usually measured as uptime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Cloud building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Managed Instance Groups (2+ VMs)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Load balancer + health checks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Multi-zone deployments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Kubernetes replicas /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Autohealing of unhealthy members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 is proactive design — not luck.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3.2  Uptime Percentage — What “Nines”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Often asked conceptually in exams /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7033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Uptime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7033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Approx downtime /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7033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Feeling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74519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7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99% (2 nines)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74519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75687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~3.65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874519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75687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Noticeable; many apps reject this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529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99.9% (3 nines)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65176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8529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~8.8 hours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65176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8529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Common cloud SLA conversation starter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29000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301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99.99% (4 nines)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429000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6301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~52 minutes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429000"/>
            <a:ext cx="3703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6301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Harder; needs strong HA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0624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99.999% (5 nines)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20624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~5 minutes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206240"/>
            <a:ext cx="3703320" cy="7315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Very expensive / specialised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Note: provider SLA ≠ your application uptime. Your architecture can be worse than the platform SLA.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3.3  Fault Tolerance (FT)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Continue operating correctly when a component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Fault Tolerance means the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continues to work despite failure of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or more components — ideally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the user noticing.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Autohealing recreates a bad VM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Replica Pods keep serving traffic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Stateless apps rebuild from GCS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HA ↔ FT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HA often USES fault-tolerant parts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FT mechanisms help HA targets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Not every FT design is full regional DR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Multi-zone MIG = strong HA + 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 gone → still need multi-region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DR + protected data copies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3.4  Redundancy &amp; Single Point of Failure (SPOF)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If losing ONE thing kills the app — you do not have HA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Redundancy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Duplicate components so one 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does not stop the service.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3 Kubernetes Pod replicas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2+ VMs in a MIG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Multi-zone load-balanced backends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Secondary database replica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SPOF examples &amp;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SPOF → Fix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VM store → MIG +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zone only → multi-zone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DB with no backup → PITR + replicas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DNS entry nowhere else → careful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multi-region cutover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Find SPOFs before production does.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3.5  HA Patterns — From One VM to Multi-Region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Climb this ladder as reliability needs grow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441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Multi-instance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MIG / K8s replicas so one crash ≠ outage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7033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441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Send traffic only to healthy backends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37033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13441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Health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1031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Detect failures early; remove bad 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37033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75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Autohealing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3484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Replace unhealthy VMs/Pods automatically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66160"/>
            <a:ext cx="37033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675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5. Multi-zone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3484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Survive one datacenter failure in a region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566160"/>
            <a:ext cx="37033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3675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6. Multi-region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43484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Survive a whole region outage (true regional DR)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3.6  HA vs DR — Clear Line for Exams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Both needed; they solve different classes of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657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HA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Keep the app up during common failures: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 death, process crash, single zone blip.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Typical tools: MIG, LB, health checks,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replicas, multi-zone.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3657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DR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Recover after major loss: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 gone, ransomware, data corruption.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Typical tools: cross-region replicas,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backups/PITR, runbooks, strategy tiers.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21208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85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Food delivery apps need HA every dinner hour. They STILL need DR when a region or database event hits.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Disaster Recovery Strategies (RPO &amp; RTO)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RTO and RPO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Timeline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How metrics drive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Strategy ladder cold → 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Deep dive each strategy + business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4.1  RTO — Recovery Time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Maximum acceptable downtime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 = max time the business accepts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being offline after a disaster.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Question: “How long can we be down?”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Measured from disaster → restored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(users can work again).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UPI / payments: seconds to few minutes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Hospital EHR: very low RTO (life safety)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Campus result portal: may accept hours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except on publish day (then tighten)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Weekly internal report: hours–a day 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 is a BUSINESS decision first,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then an engineering design constraint.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4.2  RPO — Recovery Point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Maximum acceptable data loss (as a time window)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RPO = max age of data you can afford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 lose when you restore.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Question: “How much recent work 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we lose?”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Measured as time looking BACK from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 disaster to the last good copy.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Hourly backups ⇒ RPO up to ~1 hour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Continuous async replication ⇒ minutes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Synchronous replication ⇒ near zero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SQL PITR ⇒ often minutes-level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Tighter RPO needs more frequent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protection — and usually more cost.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4.3  RPO &amp; RTO on a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Never swap these two in exam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834640"/>
            <a:ext cx="9144000" cy="73152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51760"/>
            <a:ext cx="457200" cy="45720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A1B2E"/>
                </a:solidFill>
                <a:latin typeface="Calibri"/>
              </a:rPr>
              <a:t>Last good
backup / replica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651760"/>
            <a:ext cx="457200" cy="457200"/>
          </a:xfrm>
          <a:prstGeom prst="ellipse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A1B2E"/>
                </a:solidFill>
                <a:latin typeface="Calibri"/>
              </a:rPr>
              <a:t>DISASTER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2651760"/>
            <a:ext cx="457200" cy="45720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A1B2E"/>
                </a:solidFill>
                <a:latin typeface="Calibri"/>
              </a:rPr>
              <a:t>Service
restored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0" y="2651760"/>
            <a:ext cx="457200" cy="45720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59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A1B2E"/>
                </a:solidFill>
                <a:latin typeface="Calibri"/>
              </a:rPr>
              <a:t>Users
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RPO = last good copy → disaster   (data you may lose)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A4C"/>
                </a:solidFill>
                <a:latin typeface="Calibri"/>
              </a:rPr>
              <a:t>RTO = disaster → service restored   (downtime users feel)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Memory trick: RPO looks into the Past (data). RTO looks toward Recovery Time (clock).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4.4  How RTO/RPO Drive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Lower numbers → climb the strategy ladder → spend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109728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Lower RTO → must failover/rebuild faster → more automation + more standby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109728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Lower RPO → protect data more often → frequent backups / continuous replication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109728" cy="594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Near-zero RTO + near-zero RPO ≈ Hot Standby or Active-Active (expensive)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109728" cy="594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Loose RTO/RPO ≈ Backup &amp; Restore may be enough (cheapest)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109728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Choose the cheapest strategy that STILL meets the business numbers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9204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92040"/>
            <a:ext cx="109728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Do not buy banking-grade DR for a weekly PDF report job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4.5  DR Strategy Ladder (Cold → 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Five tiers every Unit II student must memorise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788920" cy="4572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984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788920" cy="4572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984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Typical RTO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788920" cy="4572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984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Typical RPO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34440"/>
            <a:ext cx="2788920" cy="4572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2984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Cost feel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8308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9659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A6FB5"/>
                </a:solidFill>
                <a:latin typeface="Calibri"/>
              </a:rPr>
              <a:t>Backup &amp; Restore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78308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19659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8308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8308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9659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Lowest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A5A0"/>
                </a:solidFill>
                <a:latin typeface="Calibri"/>
              </a:rPr>
              <a:t>Pilot 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51460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Tens of minutes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51460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Minutes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51460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Low–medium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4612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429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Warm Standby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24612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3429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Minutes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4612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429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Minutes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612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3429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7764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160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4A017"/>
                </a:solidFill>
                <a:latin typeface="Calibri"/>
              </a:rPr>
              <a:t>Hot Standby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97764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4160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Near zero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97764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160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Near zero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3977640"/>
            <a:ext cx="278892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160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0916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892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8A5F"/>
                </a:solidFill>
                <a:latin typeface="Calibri"/>
              </a:rPr>
              <a:t>Active-Active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470916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4892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~Zero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70916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4892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~Zero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709160"/>
            <a:ext cx="2788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20" y="4892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Highest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A6B7C"/>
                </a:solidFill>
                <a:latin typeface="Calibri"/>
              </a:rPr>
              <a:t>Next slides = deep dive into each tier.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4.6  Strategy Deep Dive — Backup &amp;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Coldest / cheapest 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1. Take periodic backups (disk/DB/object)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2. On disaster: provision infrastructure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3. Restore data from backup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4. Validate application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5. Point users (DNS / LB) to recovered stack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RTO/RPO: often hours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Cost: lowest ongoing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Fit &amp;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Blogs, labs, internal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Non-critical 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Systems that can wait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Risks: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Long downtime if restore untested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Easy to believe backups exist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they do not restore cleanly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4.7  Strategy Deep Dive — Pilot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Tiny core always on; scale out when disaster hits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Keep critical data tier alive in DR 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(e.g. DB replica + minimal services)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Most compute stays off until needed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 disaster: scale fleets + cut 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RTO: tens of minutes (practiced)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RPO: minutes (depends on replication)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Fit &amp;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Business apps that can wait tens of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minutes but not hours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Needs: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Clear scale-out automation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Runbook skill / game days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Monitoring of the “pilot” core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4.8  Strategy Deep Dive — Warm Standby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Scaled-down full copy always running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Complete environment runs smaller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in the DR site continuously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Data kept fairly fresh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Failover ≈ traffic shift + scale 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RTO/RPO: typically minutes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Cost: medium (always-on smaller stack)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Medium-critical business apps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Campus ERP during exam windows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Systems where hours are unacceptable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but full hot duplicate is too costly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Must still test failover — warm is not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automatic excellence.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4.9  Strategy Deep Dive — Hot Standby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Near full-size duplicate ready to take 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Secondary almost as capable as primary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Failover measured in seconds–low minutes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Continuous (often sync/async) data protect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RTO/RPO: near zero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Cost: high ≈ running two productions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Payments / trading-style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Life-critical records 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Brand-critical customer checkouts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Watch: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Data consistency during failover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Failback planning after primary returns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4.10  Strategy Deep Dive — Multi-site Active-Active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Multiple regions serve live traffic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Two+ regions serve users at once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Global HTTP(S) LB + often CDN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One region dies → others continue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RTO/RPO: ~zero when designed well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Hardest: data consistency &amp; conflicts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Fit &amp;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Global SaaS / major commerce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Ultra-low downtime budgets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Warnings: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Databases across regions are hard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Not every app is active-active ready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Highest cost and design complexity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4.11  Choosing a Strategy — Business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Same cloud tools · different RTO/RPO budgets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657600" cy="7772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Campus ERP /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Warm/Hot in result week; colder in off-season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031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3657600" cy="7772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Food delivery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Hot / Active-Active mindset — minutes kill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3657600" cy="7772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Hospital patient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461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Hot + strict RPO; audited restores; multi-region thinking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3657600" cy="7772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Batch analytics / ML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1605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Backup &amp; Restore + retries/checkpoints often enough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463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3657600" cy="7772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UPI / payments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0749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Very low RTO/RPO; multi-zone HA + strong DR drills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Cloud-Based Backup Solutions &amp;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GCP building blocks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Compute Engine snapshots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Recovery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Cloud Storage 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Cloud SQL backups &amp; PITR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GKE / PaaS data notes + best practices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5.1  Cloud Backup Building Blocks (GCP 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Same ideas exist on AWS/Azure under different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2788920" cy="960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258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Compute Engine
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Disk point-in-time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Incremental after first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Restore → new disk/VM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788920" cy="960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3258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Cloud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46888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Object versioning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Dual/multi-region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Lifecycle to cold tiers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2788920" cy="960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258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Cloud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Automated backups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Point-in-time recovery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Tight DB RPO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234440"/>
            <a:ext cx="2788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234440"/>
            <a:ext cx="2788920" cy="960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3258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GKE /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46888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PV snapshots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Multi-cluster failover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App-level backups still yours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5.2  Compute Engine Snapshots — What They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Point-in-time disk copies for VM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Capture a persistent disk at a moment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First snapshot = full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Later snapshots = incremental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Stored durably (Cloud Storage backed)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Create new disk / VM from a snapshot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Great for VM/boot disk recovery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Command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compute disks snapshot DISK \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--snapshot-names=NAME \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--zone=ZONE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Also automate via schedules / policies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 production — do not rely on memory.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Caution: busy DB disks may be only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crash-consistent — prefer managed DB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backups for transactional engines.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5.3  Snapshot Recovery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Practice this BEFORE the outage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4520" y="146304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Pick last known-good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1463040"/>
            <a:ext cx="640080" cy="64008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Create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517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New disk from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2344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19" y="1463040"/>
            <a:ext cx="640080" cy="640080"/>
          </a:xfrm>
          <a:prstGeom prst="ellipse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19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Attach /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6517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VM or attach disk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74520" y="3794760"/>
            <a:ext cx="640080" cy="64008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20" y="3886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17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checks + data sanity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20" y="379476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886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17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Cut 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9834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Point LB / DNS if needed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56616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46919" y="3794760"/>
            <a:ext cx="640080" cy="64008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19" y="3886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4617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Measure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49834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Compare elapsed time vs RTO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5.4  Cloud Storage — Versioning &amp; Regional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Protect objects, dumps, media, and artifacts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Object versioning → undelete / prior versions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Dual-region / multi-region buckets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Lifecycle policies → Nearline / Coldline / Archive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Soft delete / retention options (know conceptually)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 for: DB dumps, media, ML datasets,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build artifacts, log archives.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DR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Single-region bucket can share fate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with an application region outage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Dual/multi-region improves survival of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object data across regional events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Versioning helps accidental overwrite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Restrict IAM — backups are sensitive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5.5  Cloud SQL Backups &amp; Point-in-Time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Transactional data needs service-native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Capabilities to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Automated scheduled backups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On-demand backup before risky changes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Point-in-Time Recovery (PITR)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→ restore to a timestamp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Export options to Cloud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Classic exam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Corruption / bad DELETE at 2:00 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Business needs ≈ 1:30 PM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PITR restores to that timestamp.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Replicas alone may have copied the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bad state — PITR rolls BACK in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66928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742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Prefer managed DB backups/PITR over raw VM disk snapshots for databases whenever available.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5.6  GKE &amp; PaaS — What You Still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Managed platforms ≠ managed application data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GKE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Control plane etcd managed by Google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Your app state on Persistent Volumes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still needs snapshot/backup 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Multi-cluster / multi-region helps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compute failover — pair with data 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App Engine /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Platform HA is largely Google-managed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YOUR data in Cloud SQL / Firestore 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GCS still needs backup &amp; DR 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PaaS does not erase shared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responsibility for application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5.7  Cloud Backup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Production checklist (and exam favourites)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Automate schedules — do not rely on human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56232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Alert when backups fail; treat silence as danger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Encrypt backups; restrict IAM with least privilege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44952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Keep at least one copy outside the primary region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9312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Test restores on a calendar; record actual RTO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33672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Use versioning / retention that survives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28032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For ransomware awareness: consider immutable / vaulted copies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22392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Document restore owners and communication steps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Case Studies on Disaster Recovery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Lab pattern: Fancy Store 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Global e-commerce regional outage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Data-critical PITR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Batch analytics fault tolerance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Industry: streaming · payments · GitLab · campus ERP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6.0  Case Study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these stories in long answers /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27889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01  Fancy Store (Lab)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SPOF VM → MIG + LB + heal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7889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02  Global E-commerce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574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Multi-region + global LB + CDN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27889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03  Data-Critical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SQL PITR for minutes RPO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2344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234440"/>
            <a:ext cx="27889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04  Batch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Spot + retries + GCS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56616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566160"/>
            <a:ext cx="278892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758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05  Hotstar /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Demand spike resilience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56616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566160"/>
            <a:ext cx="278892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36758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06  UPI / 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389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Strict RTO/RPO thinking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56616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566160"/>
            <a:ext cx="278892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6758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07  GitLab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89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 gaps &amp; restore lessons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56616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566160"/>
            <a:ext cx="27889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6758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08  Campus ERP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389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Time-varying DR tier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6.1  Case — Fancy Store on Compute Engine (Lab)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Problem → Solution → Level achieved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91440" cy="42976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3428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691640"/>
            <a:ext cx="342899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Single VM hosts the store.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 dies → whole store down.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Classic SPOF.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health checks,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automatic recovery.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3444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91440" cy="42976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344168"/>
            <a:ext cx="3428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691640"/>
            <a:ext cx="342899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Managed Instance Group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Health checks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Autohealing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HTTP(S) Load Balancer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Named ports for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Identical VMs from templates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(cattle, not pets).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34440"/>
            <a:ext cx="91440" cy="42976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441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9164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Strong HA in a zone.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Better with multi-zone MIG.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Still need data backups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for true DR events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(corruption / region loss).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6.2  Case — Global E-commerce Regional Outage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When single-region HA is not enough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4747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All capacity in one region.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Regional outage stops checkout for everyone.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Revenue and brand damage are immediate.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34747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Multi-region deployment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Global HTTP(S) Load Balancer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Cloud CDN for static assets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Warm/Hot or Active-Active + data replication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2920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Amazon / Flipkart sale peaks and Shopify merchants plan regional failover so one region wobble doesn’t cancel payments.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6.3  Case — Data-Critical Application (PITR)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Corruption at 2:00 PM → restore to 1:30 PM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1508760"/>
            <a:ext cx="640080" cy="640080"/>
          </a:xfrm>
          <a:prstGeom prst="ellipse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803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Bad write / DELETE /
ransomware-like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3400" y="150876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3317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RPO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8803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Business: lose ≤ 30 min
of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69480" y="1508760"/>
            <a:ext cx="640080" cy="64008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317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PITR 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SQL restore to
1:30 PM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2801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5560" y="1508760"/>
            <a:ext cx="640080" cy="64008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3317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803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checks, reconcile,
reopen traffic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Teaching point: failover to a replica can copy the poison. PITR rolls BACK in time — different problem.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Maps to: college marksheets, inventory DBs, fintech ledgers.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6.4  Case — Batch Analytics / Non-Interactive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Not every workload needs Hot Standby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 &amp;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Problem: job fails when a Spot node dies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Solution: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Keep checkpoints / state in Cloud Storage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Retry / resume from last watermark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Accept longer RTO if business allows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DR level: fault-tolerant &amp; cost-aware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Real parallels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ML training with periodic checkpoints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Nightly ETL pipelines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Log processing with replay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Recommendation batch builds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Design for interruption — not immortality.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Save money where humans are not waiting.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6.5  Case — Streaming Spike (Hotstar / Live Sports 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Disaster of demand is still an availability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657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Traffic multiplies hugely during live events.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Failure mode may be overload — not only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datacenter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3657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Solution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Autoscaling compute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CDN near viewers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Multi-AZ resilient origins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Graceful degradation (lower 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beats total blackout)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21208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85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Goal during the last over: stay up. Backups alone do not stream a match.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6.6  Case — Payments / UPI Style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When minutes of downtime destroy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Very low RTO (transactions must flow)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Very low RPO (money must not vanish)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Multi-zone HA as the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Strict failover drills / game days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Careful DB replication + backup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Teaching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Not every campus app needs banking-grade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Active-Active spend.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But you must explain WHY payments pay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for hotter tiers — and map that to RTO/RPO.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Salary-day spikes also need capacity,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not only recovery docs.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6.7  Case — GitLab Database Incident (2017)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Industry lesson: backups that cannot restore are theatre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109728" cy="1005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99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What happened (high 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Production database deletion event + backup/restore difficulties caused a long public outage.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109728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42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Lesson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Multiple backup methods beat a single “we think backups exist” assumption.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85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Lesson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Restore testing matters as much as backup scheduling.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109728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28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Lesson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Clear RPO expectations and access controls reduce panic and blast radius.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6.8  Case — Campus ERP / Exam Result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RTO/RPO can be time-varying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206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Most of year: moderate traffic.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Result day: load explodes; any outage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causes campus-wide chaos.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Database integrity also critical before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publish.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4206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Practical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916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Off-peak: Backup &amp; Restore + basic HA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Peak window: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Raise capacity / warmer standby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CDN for static result pages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Queues / rate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Fresh tested DB backup before publish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Escalate DR tier for critical windows.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People &amp; Process — Often Forgotten Subtopic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Technology without ownership delays every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1.  Who is authorised to declare a disaster?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659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0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2.  Who executes failover vs who informs users / management?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077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3.  Where is the runbook, and is it reachable if Slack/primary tools are down?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39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8503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4.  How do we fail back safely after primary recovers?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62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5.  When was the last successful restore test — and what RTO did we actually hit?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395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6.  Are secrets / IAM for backups separate enough to survive ransomware credentials?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Definitions &amp; distinctions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Backup = data copy · Disaster = unavailability/data-loss event · DR = IT restore plan · Continuity = business keeps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Restore / Failover / Failback are different actions — learn all three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Backup types: Full, Incremental, Differential, Snapshot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Backup ≠ Replication; replicas can copy corruption; PITR rolls back in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HA minimises downtime; FT continues despite failure; kill SPOFs with redundancy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RTO = downtime budget · RPO = data-loss budget — never swap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Strategies · tools ·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Ladder: Backup &amp; Restore → Pilot Light → Warm → Hot → Active-Active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Lower RTO/RPO ⇒ higher cost; choose cheapest that still meets business numbers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GCP: GCE snapshots · GCS versioning/dual-multi-region · Cloud SQL backups+PITR · GKE PV / multi-cluster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HA ≠ full DR: multi-zone MIG still needs cross-region data protection for regional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Cases: Fancy Store HA · Global multi-region · SQL PITR · Batch FT · Streaming · UPI · GitLab · Campus ERP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Always: automate backups, alert failures, test restores, document owners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Design DR for people and money — not for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Disaster Recovery in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Measure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Agree RTO &amp; RPO with stakeholders, then pick the cheapest strategy that meets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585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HA ≠ full 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Multi-zone MIG is HA. Surviving regional loss needs multi-region design + protected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Practice restores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Untested backups are theatre. Game days prove RTO; PITR drills prove RPO.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Match the workload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UPI ≠ nightly ETL. Active-Active for payments; retries + GCS for batch.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38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Own the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Declare ownership, runbooks, failback, and backup IAM — technology alone is incomplete.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3D9BE0"/>
                </a:solidFill>
                <a:latin typeface="Calibri"/>
              </a:rPr>
              <a:t>Questions · Discussion · Map each case to a DR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Unit II — Disaster Recovery in Cloud (expanded subtopic deck)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Pair with: CC-II-Unit-II-Disaster-Recovery-in-Cloud.txt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CS, Parul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