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0" y="731520"/>
            <a:ext cx="2560320" cy="1097280"/>
          </a:xfrm>
          <a:prstGeom prst="ellipse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0" y="5303520"/>
            <a:ext cx="2926080" cy="914400"/>
          </a:xfrm>
          <a:prstGeom prst="ellipse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0" y="5029200"/>
            <a:ext cx="3200400" cy="1188720"/>
          </a:xfrm>
          <a:prstGeom prst="ellipse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DA5A0"/>
                </a:solidFill>
                <a:latin typeface="Calibri"/>
              </a:rPr>
              <a:t>CLOUD COMPUTING – II  ·  UNIT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Disaster Recovery</a:t>
            </a:r>
          </a:p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in the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Backup &amp; DR Concepts  ·  High Availability &amp; Fault Tolerance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RPO &amp; RTO Strategies  ·  Cloud Backups &amp; Snapshots  ·  Case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FIT &amp; CS  ·  Parul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Unit II Syllabus —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Disaster Recovery in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3611880" cy="109728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6FB5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Disaster Recovery in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Why DR matters; what a cloud disaster looks like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1732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417320"/>
            <a:ext cx="3611880" cy="109728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DA5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Backup &amp; DR Concepts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Backup, disaster, DR, business continuity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417320"/>
            <a:ext cx="3611880" cy="109728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E86A4C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HA &amp; Fault Tolerance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Redundancy, SPOF, multi-zone / multi-region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118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11880"/>
            <a:ext cx="3611880" cy="109728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6FB5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DR Strategies · RPO &amp; 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Backup-restore → pilot → warm → hot → active-active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36118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611880"/>
            <a:ext cx="3611880" cy="109728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DA5A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Cloud Backups &amp; Snapshots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GCE snapshots, GCS, Cloud SQL, GKE state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118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611880"/>
            <a:ext cx="3611880" cy="109728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E86A4C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Case Studies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Lab + industry DR implementations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is Disaster Recovery in Cloud?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Policies + people + technology to restore operations after a disaster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32004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In the cloud, a “disaster” can be…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Regional outage (power, network, cooling)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Zone failure (single datacenter impact)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Cyberattack / ransomware encrypting data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Accidental delete or bad deploy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Natural disaster near a region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Vendor / dependency failure cascading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32004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DR answers three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1. How fast must we be back?  → RTO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2. How much data can we lose? → RPO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3. How do we actually recover?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   backups, replicas, failover, runbooks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advantage: spare capacity on demand,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snapshots, multi-region, IaC rebuilds.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When AWS us-east-1 wobbles, half the internet feels it — DR is not optional for money, health, or exam-result systems.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Concepts — Backup, Disaster, DR &amp; Continuity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These four words are related but not the same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3108960" cy="1005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00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Backup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600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A copy of data kept so you can restore after loss or corruption.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23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3108960" cy="1005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43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Disaster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743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An event that makes systems unavailable — outage, flood, cyberattack.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3108960" cy="1005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86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Disaster Recovery (DR)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886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Policies &amp; procedures to restore IT operations after a disaster.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09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09160"/>
            <a:ext cx="3108960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Business Continuity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029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Keeping critical business services running for users / revenue.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Backup Types You Must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Full · Incremental · Snapshot — trade space, time, and restore complexity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11880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Full Backup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Entire dataset every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17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Simple restore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Slow + expensive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Often weekly 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371600"/>
            <a:ext cx="3611880" cy="6400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Incremental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Only changes since last backup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017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Fast &amp; cheap to take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Restore = full + chain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Common daily schedule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371600"/>
            <a:ext cx="36118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371600"/>
            <a:ext cx="3611880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Point-in-time disk/image copy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017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Near-instant capture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Ideal for VMs &amp; disks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GCP: GCE / PV snapshots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PhonePe / banks: full weekly + frequent incrementals/snapshots so a 2 PM corruption can roll back near 1:30 PM (tight RPO).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Backup ≠ Disaster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Having a zip file is not a recovery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109728" cy="1005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Only backups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You still need people, runbooks, spare infra, tested restore time, and a decision of WHEN to fail over.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23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109728" cy="1005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06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Untested restores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Backups that never restore successfully are false comfort — practice game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109728" cy="1005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Same-region copies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A region outage can wipe primary AND local backups. Cross-region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09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09160"/>
            <a:ext cx="109728" cy="1005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No RTO/RPO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Without targets you overspend on gold-plated DR or underserve a critical 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High Availability &amp; Fault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Two goals that often work together — but mean different things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High Availability (HA)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Minimize downtime through redundancy.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Goal: service stays reachable for users.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Often measured as uptime % (e.g. 99.9%).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examples: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MIG with 2+ instances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Load balancer + health checks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Multi-zone deployments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114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Fault Tolerance (FT)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Continue operating despite a component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failure — ideally without the user noticing.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examples: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Autohealing recreates a bad VM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Replica Pods serve while one dies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Stateless apps pull code from GCS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HA often uses FT building blocks.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HA Building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Concept → meaning → unit / cloud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703320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1732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25880"/>
            <a:ext cx="3703320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1732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25880"/>
            <a:ext cx="3703320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41732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Cloud / Unit 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7451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10311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1B2E"/>
                </a:solidFill>
                <a:latin typeface="Calibri"/>
              </a:rPr>
              <a:t>High Availability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87451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10311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Minimize downtime via redundancy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87451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0311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MIG with 2+ instances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97479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92607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1B2E"/>
                </a:solidFill>
                <a:latin typeface="Calibri"/>
              </a:rPr>
              <a:t>Fault Tolerance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697479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92607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Survive component failure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697479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92607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Autohealing recreates VM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52043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4903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1B2E"/>
                </a:solidFill>
                <a:latin typeface="Calibri"/>
              </a:rPr>
              <a:t>Redundancy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52043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Duplicate components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520439"/>
            <a:ext cx="3703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49039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Kubernetes replicas =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343400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720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1B2E"/>
                </a:solidFill>
                <a:latin typeface="Calibri"/>
              </a:rPr>
              <a:t>SPOF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4343400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5720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One failure stops everything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4343400"/>
            <a:ext cx="3703320" cy="7772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45720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Single VM store → fixed by MIG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394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A4C"/>
                </a:solidFill>
                <a:latin typeface="Calibri"/>
              </a:rPr>
              <a:t>SPOF reminder: if losing ONE thing kills the app, you do not have HA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HA Patterns in the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From one zone to planet-scale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25880"/>
            <a:ext cx="3611880" cy="5029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Multi-instance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MIG / K8s replicas so one crash is not an outage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258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25880"/>
            <a:ext cx="3611880" cy="5029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Load balancing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Send traffic only to healthy backends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258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325880"/>
            <a:ext cx="3611880" cy="5029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Health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Detect failures early; remove bad nodes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520439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20439"/>
            <a:ext cx="36118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3016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Autohealing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4339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Replace unhealthy VMs/Pods automatically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520439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520439"/>
            <a:ext cx="3611880" cy="5029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63016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Multi-zone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34339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Survive one datacenter failure in a region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520439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3520439"/>
            <a:ext cx="3611880" cy="5029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63016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Multi-region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34339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Survive a whole region outage (true DR)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RTO &amp; RPO — The Two Numbers That Drive DR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Decide these BEFORE picking a DR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3291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RTO — Recovery Time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Maximum acceptable downtime.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“How long can we be offline?”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Example: payment UPI app RTO ≈ seconds–minutes.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Campus portal after exams may accept hours.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3291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RPO — Recovery Point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Maximum acceptable data loss (time window).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“How much recent work can we afford to lose?”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Hourly backup ⇒ RPO up to ~1 hour.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Sync replication ⇒ RPO near zero.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4632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Lower RTO + lower RPO = more money (hot standby / active-active). Match the strategy to business pain, not to fashion.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RPO and RTO Sit on a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Disaster → restore → back in business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112471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834640"/>
            <a:ext cx="411480" cy="411480"/>
          </a:xfrm>
          <a:prstGeom prst="ellipse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A1B2E"/>
                </a:solidFill>
                <a:latin typeface="Calibri"/>
              </a:rPr>
              <a:t>Last good
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A1B2E"/>
                </a:solidFill>
                <a:latin typeface="Calibri"/>
              </a:rPr>
              <a:t>DISASTER
hits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2834640"/>
            <a:ext cx="411480" cy="411480"/>
          </a:xfrm>
          <a:prstGeom prst="ellipse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A1B2E"/>
                </a:solidFill>
                <a:latin typeface="Calibri"/>
              </a:rPr>
              <a:t>Service
restored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0" y="2834640"/>
            <a:ext cx="411480" cy="411480"/>
          </a:xfrm>
          <a:prstGeom prst="ellipse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3383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A1B2E"/>
                </a:solidFill>
                <a:latin typeface="Calibri"/>
              </a:rPr>
              <a:t>Users
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2999232"/>
            <a:ext cx="9052560" cy="73152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RPO = time from last good backup → disaster  (data you may lose)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A4C"/>
                </a:solidFill>
                <a:latin typeface="Calibri"/>
              </a:rPr>
              <a:t>RTO = time from disaster → service restored  (downtime users feel)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Exam tip: never swap the two. RPO = data loss window · RTO = downtime window.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Disaster Recovery Strategy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From cheapest/slowest to near-zero downtime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2834640" cy="4572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353312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280160"/>
            <a:ext cx="2834640" cy="4572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1353312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Typical RTO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2834640" cy="4572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353312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Typical RPO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280160"/>
            <a:ext cx="2834640" cy="4572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1353312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Idea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78308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19659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A6FB5"/>
                </a:solidFill>
                <a:latin typeface="Calibri"/>
              </a:rPr>
              <a:t>Backup &amp; Restore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178308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9272" y="19659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8308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5352" y="19659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78308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9659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Restore when disaster hits — lowest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51460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2697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Pilot 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6120" y="251460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9272" y="2697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Tens of minutes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51460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52" y="2697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Minutes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98280" y="251460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71432" y="269748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Minimal core always on; scale out on failover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24612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29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86A4C"/>
                </a:solidFill>
                <a:latin typeface="Calibri"/>
              </a:rPr>
              <a:t>Warm Standby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6120" y="324612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19272" y="3429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Minutes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324612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3429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Minutes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324612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71432" y="34290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Scaled-down copy always running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7764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41605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D4A017"/>
                </a:solidFill>
                <a:latin typeface="Calibri"/>
              </a:rPr>
              <a:t>Hot Standby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6120" y="397764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19272" y="41605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Near zero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397764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5352" y="41605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Near zero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3977640"/>
            <a:ext cx="2834640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71432" y="416052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Full duplicate active — costly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7091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" y="48920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8A5F"/>
                </a:solidFill>
                <a:latin typeface="Calibri"/>
              </a:rPr>
              <a:t>Multi-site Active-Active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47091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19272" y="48920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~Zero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7091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45352" y="48920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~Zero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98280" y="47091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71432" y="489204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C2B3A"/>
                </a:solidFill>
                <a:latin typeface="Calibri"/>
              </a:rPr>
              <a:t>Both regions serve traffic (global LB)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A6B7C"/>
                </a:solidFill>
                <a:latin typeface="Calibri"/>
              </a:rPr>
              <a:t>Rule: lower RTO/RPO ⇒ climb the ladder ⇒ higher ongoing cost.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Strategy Deep Dive — Backup &amp; Restore · Pilot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Cost-efficient tiers for many university / SMB apps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Backup &amp; Restore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Periodic backups to Cloud Storage / snapshots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On disaster: provision infra + restore data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Pros: cheapest; simple to understand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Cons: longest RTO; restore must be practiced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Good for: blogs, internal tools, labs,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non-critical reporting systems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114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Pilot 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Tiny core always running in DR region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(e.g. DB replica + minimal services)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On disaster: scale up compute fleets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Pros: faster than cold restore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Cons: some always-on cost + runbook skill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Good for: business apps that can wait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tens of minutes but not hours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Strategy Deep Dive — Warm · Hot · Active-Active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When downtime is measured in money, brand, or safety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3749039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17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Warm Standby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83080"/>
            <a:ext cx="33832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Scaled-down full copy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always running in DR site.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Flip DNS / LB → scale up.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RTO/RPO: minutes.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Cost: medium.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280160"/>
            <a:ext cx="3749039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280160"/>
            <a:ext cx="91440" cy="41148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173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Hot Standby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783080"/>
            <a:ext cx="33832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Near full-size duplicate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environment is ready.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Failover is almost immediate.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RTO/RPO: near zero.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Cost: high (2× many resources).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28016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280160"/>
            <a:ext cx="91440" cy="4114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Active-Active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7830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Multiple regions serve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live traffic together.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Global HTTP(S) LB + CDN.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One region dies → others continue.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RTO/RPO: ~zero.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Hardest (data consistency!).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Choosing a Strategy — Business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Same cloud tools · different RTO/RPO budgets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3840480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00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Campus ERP / results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00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Warm or Hot during exam week; Backup &amp; Restore in off-season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23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3840480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43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Food delivery order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43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Hot / Active-Active — every minute = cancelled orders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3840480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86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Hospital patient records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886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Hot + strict RPO; often multi-region with audited restores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0916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09160"/>
            <a:ext cx="3840480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Batch analytics job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029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Fault tolerance + retries; Backup &amp; Restore is often enough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Cloud-Based Backup Solutions &amp; Snapshots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GCP building blocks you will see in labs &amp; exams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258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25880"/>
            <a:ext cx="2788920" cy="1005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1732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Compute Engine
Snapshots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Disk point-in-time copies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Incremental &amp; compressed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Restore → new disk / 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3258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325880"/>
            <a:ext cx="2788920" cy="1005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41732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Cloud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65176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Object versioning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Cross / dual-region buckets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Lifecycle → Coldline/Archive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258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25880"/>
            <a:ext cx="2788920" cy="1005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41732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Cloud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Automated daily backups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Point-in-time recovery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Tight RPO for databases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325880"/>
            <a:ext cx="278892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325880"/>
            <a:ext cx="2788920" cy="1005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41732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GKE /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65176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Control plane etcd (Google)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Snapshot Persistent Volumes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Multi-cluster failover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Compute Engine Snapshots — How Recovery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Capture → store →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What a snapshot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Point-in-time copy of a persistent disk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Stored durably (Cloud Storage backed)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Incremental after the first snapshot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Create new disk / VM from snapshot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Command shape: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compute disks snapshot DISK \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--snapshot-names=NAME --zone=ZONE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114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Recovery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1. Identify last known-good snapshot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2. Create disk from snapshot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3. Create VM / attach disk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4. Validate app &amp; data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5. Point LB / DNS to recovered stack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Practice this BEFORE the outage.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Measure actual restore time vs RTO.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Cloud Storage Versioning &amp; Database PITR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Protect objects and transactional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Cloud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Object versioning → undelete / prior versions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Dual-region / multi-region → survive region loss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Lifecycle policies → cheaper cold storage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Real life: media archives, ML datasets,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backup dumps, Terraform state (carefully!).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1148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Managed 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SQL: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Automated daily backups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Point-in-Time Recovery (PITR)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→ restore to e.g. 1:30 PM after 2 PM corruption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Firestore / Datastore: export to GCS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 state on GKE: snapshot PVs + app backups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2356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A bad ALTER TABLE at 2:00 PM is a classic exam story — PITR is how you restore without yesterday’s full dump only.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Case Studies — DR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From lab patterns to industry disasters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11880" cy="5029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01  Fancy Store (Unit Lab)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Single VM → MIG + LB + autohealing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3611880" cy="5029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02  Global E-commerce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Multi-region + global LB + CDN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371600"/>
            <a:ext cx="3611880" cy="5029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03  Data-Critical 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Cloud SQL PITR for minute-level RPO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56616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66160"/>
            <a:ext cx="36118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75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04  Batch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Spot VMs + retries + state in GCS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56616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566160"/>
            <a:ext cx="3611880" cy="5029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675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05  Hotstar / Streaming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434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Elasticity + CDN under traffic spikes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56616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3566160"/>
            <a:ext cx="3611880" cy="5029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675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06  Banking / UPI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34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Active-active mindset, strict RTO/RPO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Case 1 — Fancy Store on Compute Engine (Lab)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Problem → Solution → DR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41148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Single VM failure takes the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whole store offline.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Classic SPOF.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 health checks,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 automatic recovery.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4114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7830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Managed Instance Group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Health checks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Autohealing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HTTP(S) Load Balancer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Named ports for services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Identical VMs from templates.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28016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280160"/>
            <a:ext cx="91440" cy="4114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DR / HA level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7830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HA within a zone.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Extend to multi-zone MIG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to survive zone failure.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Still need backups for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data / config recovery.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Case 2 — Global E-commerce Regional Outage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When one region is not enough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3291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Regional outage affects ALL users.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Revenue stops; brand damage is instant.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Single-region HA cannot save you.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3291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Multi-region deployment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Global HTTP(S) Load Balancer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Cloud CDN for static assets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Hot standby or Active-Active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4632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Amazon / Flipkart sale days and Shopify merchants design for regional failover so one datacenter wobble doesn’t cancel checkout.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Case 3 — Data-Critical Application (PITR)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Corruption at 2:00 PM → restore to 1:30 PM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27889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63040" y="1645920"/>
            <a:ext cx="640080" cy="640080"/>
          </a:xfrm>
          <a:prstGeom prst="ellipse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Bad write / delete /
ransomware-like event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7889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89120" y="1645920"/>
            <a:ext cx="640080" cy="640080"/>
          </a:xfrm>
          <a:prstGeom prst="ellipse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4688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Decide RPO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01752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Business: lose ≤ 30 min
of transactions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417320"/>
            <a:ext cx="27889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0" y="1645920"/>
            <a:ext cx="640080" cy="640080"/>
          </a:xfrm>
          <a:prstGeom prst="ellipse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688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PITR restore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01752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SQL point-in-time
to 1:30 PM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1417320"/>
            <a:ext cx="27889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1280" y="164592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4688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Validate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01752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 checks, reconcile,
reopen traffic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548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DR level: Backup &amp; Restore with a defined, tested RTO/RPO SLA — not “we hope the dump works.”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Real life: fintech ledgers, college marksheets, inventory DBs — PITR beats praying for yesterday’s .sql file.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Case 4 — Batch Analytics · Industry Stories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Not every workload needs hot standby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54864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91440" cy="32004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Batch analytics (lab pattern)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Problem: job fails on one node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Solution: Spot/Preemptible VMs + retry logic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        Keep state in Cloud Storage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DR level: fault tolerant, not tiny RTO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Save money where downtime is acceptable.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864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32004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Industry analogues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ML training on Spot → checkpoint to GCS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Nightly ETL: restart from last watermark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• Log processing pipelines with replay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Design for interruption, not immortality.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A4C"/>
                </a:solidFill>
                <a:latin typeface="Calibri"/>
              </a:rPr>
              <a:t>Real life:  Spotify Wrapped / recommendation batch jobs can retry; UPI settlement cannot. Same cloud — different DR tier.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More Real-Life DR Stories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Connect Unit II theory to products students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109728" cy="13716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63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Hotstar / Disney+ (IPL)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Traffic 50–100×. CDN + autoscale + multi-AZ. Goal: stay up for the last over, not just “have backups”.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109728" cy="13716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463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PhonePe / Google Pay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Payments need tight RTO/RPO. Multi-zone HA, strict failover drills, active capacity for salary-day spikes.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34639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834639"/>
            <a:ext cx="109728" cy="13716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17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GitLab 2017 DB incident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28999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Bad delete + backup gaps = long outage. Lesson: test restores; multiple backup methods; clear RPO.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834639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834639"/>
            <a:ext cx="109728" cy="13716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017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British Airways / airline 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428999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Ops outages strand passengers. Multi-site thinking + runbooks matter more than pretty architecture slides.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38912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389120"/>
            <a:ext cx="109728" cy="13716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IRCTC Tatkal 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98348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Thundering herd ≠ only HA. Queues, rate limits, graceful degradation are part of surviving “disasters of demand”.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389120"/>
            <a:ext cx="5623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389120"/>
            <a:ext cx="109728" cy="13716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Hospital / EHR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98348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Life-critical RTO. Hot/multi-site, audited backups, ransomware playbooks, offline contingency.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DR Best Practices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What production teams actually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64592" cy="16459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1887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Write RTO/RPO per application — not one number for the whole college.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Keep backups off the primary region (cross-region / dual-region).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23160"/>
            <a:ext cx="164592" cy="16459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Automate snapshots + Cloud SQL backups; alert on backup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Run restore game days — measure real RTO, update runbooks.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164592" cy="16459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Combine HA (MIG/multi-zone) with DR (multi-region / backups).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605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Use IaC so you can rebuild the stack when the console is on fire.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164592" cy="16459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Protect against ransomware: immutable / versioned backups + IAM least privilege.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9496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92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Document who declares a disaster and who executes failover.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Exam Rapid Revision — Unit II 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High-frequency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1887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Backup = data copy · Disaster = unavailability event · DR = restore plan · Continuity = business keeps running.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64592" cy="164592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Backup types: Full, Incremental, Snapshot (GCE disks / GCS versioning).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2316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HA minimizes downtime via redundancy; Fault Tolerance continues despite failures; kill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164592" cy="164592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HA patterns: multi-instance, LB, health checks, autohealing, multi-zone, multi-region.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RTO = max downtime · RPO = max data-loss window — never swap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164592" cy="164592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605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Strategy ladder: Backup &amp; Restore → Pilot Light → Warm → Hot → Active-Active.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164592" cy="164592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GCP tools: GCE snapshots, GCS versioning/replication, Cloud SQL backups + PITR, GKE multi-cluster / PV snapshots.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94960"/>
            <a:ext cx="164592" cy="164592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92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Case studies map: Fancy Store HA → Global multi-region → SQL PITR → Batch fault tolerance.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D9BE0"/>
                </a:solidFill>
                <a:latin typeface="Calibri"/>
              </a:rPr>
              <a:t>Design DR for people and money — not for slides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II  ·  Disaster Recovery in Cloud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25880"/>
            <a:ext cx="109728" cy="1005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Measure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Agree RTO &amp; RPO with stakeholders, then pick the cheapest strategy that meets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6888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68880"/>
            <a:ext cx="109728" cy="1005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51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HA ≠ full 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Multi-zone MIG is HA. Surviving a whole-region loss needs multi-region design + data protection.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109728" cy="1005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Practice restores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Untested backups are theater. Game days prove RTO; PITR drills prove RPO.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54880"/>
            <a:ext cx="112471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109728" cy="1005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Match the workload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UPI ≠ nightly ETL. Active-Active for payments; retries + GCS for batch.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9BE0"/>
                </a:solidFill>
                <a:latin typeface="Calibri"/>
              </a:rPr>
              <a:t>Questions · Discussion · Lab mapping to DR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Unit II focus: Disaster Recovery in Cloud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Backup &amp; DR · HA &amp; Fault Tolerance · RPO/RTO Strategies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Cloud Backups &amp; Snapshots · Case Studies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Branch: cc-ii-ppt  ·  FIT &amp; CS, Parul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